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sldIdLst>
    <p:sldId id="265" r:id="rId2"/>
    <p:sldId id="261" r:id="rId3"/>
    <p:sldId id="266" r:id="rId4"/>
    <p:sldId id="267" r:id="rId5"/>
    <p:sldId id="270" r:id="rId6"/>
    <p:sldId id="268" r:id="rId7"/>
    <p:sldId id="269" r:id="rId8"/>
    <p:sldId id="271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91" d="100"/>
          <a:sy n="91" d="100"/>
        </p:scale>
        <p:origin x="-96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531338-088F-45C5-9E26-33E9CE708819}" type="datetimeFigureOut">
              <a:rPr lang="en-US" smtClean="0"/>
              <a:t>8/28/2021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7556F2-C1E8-42C0-B9AD-6E5DB1A177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0595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87556F2-C1E8-42C0-B9AD-6E5DB1A177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091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8437A5-6AB3-45F9-9204-FCE4DEE24287}" type="datetime1">
              <a:rPr lang="en-US" smtClean="0"/>
              <a:t>8/28/2021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8322A4-C835-4D36-8F62-6CAB579A367C}" type="datetime1">
              <a:rPr lang="en-US" smtClean="0"/>
              <a:t>8/28/2021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11D463-D710-4444-86A6-C87A48C3C7E8}" type="datetime1">
              <a:rPr lang="en-US" smtClean="0"/>
              <a:t>8/28/2021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D910D-592E-4DC2-AE87-3505C7F51594}" type="datetime1">
              <a:rPr lang="en-US" smtClean="0"/>
              <a:t>8/28/2021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A7C22-B319-412B-9B7E-79B021FE5AF5}" type="datetime1">
              <a:rPr lang="en-US" smtClean="0"/>
              <a:t>8/28/2021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FFA14-C6A0-4AB4-A5F0-CD8D2177F1D0}" type="datetime1">
              <a:rPr lang="en-US" smtClean="0"/>
              <a:t>8/28/2021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124CA-06D1-4926-9F55-5BC536647AB4}" type="datetime1">
              <a:rPr lang="en-US" smtClean="0"/>
              <a:t>8/28/2021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187106-37D1-44C8-A9DC-4A722FE61CA6}" type="datetime1">
              <a:rPr lang="en-US" smtClean="0"/>
              <a:t>8/28/2021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F8D4-3BE8-483B-A815-5F1B54BAF003}" type="datetime1">
              <a:rPr lang="en-US" smtClean="0"/>
              <a:t>8/28/2021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2BB24-666B-4A52-933A-904964341520}" type="datetime1">
              <a:rPr lang="en-US" smtClean="0"/>
              <a:t>8/28/2021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C720A-73B0-4024-A60E-B471A0CB9730}" type="datetime1">
              <a:rPr lang="en-US" smtClean="0"/>
              <a:t>8/28/2021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1484D1-0697-4D7B-9EC6-DCF1A390A541}" type="datetime1">
              <a:rPr lang="en-US" smtClean="0"/>
              <a:t>8/28/2021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Buffalo Soldiers History Brief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11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6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jpeg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644775"/>
            <a:ext cx="7772400" cy="1470025"/>
          </a:xfrm>
        </p:spPr>
        <p:txBody>
          <a:bodyPr/>
          <a:lstStyle/>
          <a:p>
            <a:r>
              <a:rPr lang="en-US" dirty="0" smtClean="0"/>
              <a:t>The 9</a:t>
            </a:r>
            <a:r>
              <a:rPr lang="en-US" baseline="30000" dirty="0" smtClean="0"/>
              <a:t>th</a:t>
            </a:r>
            <a:r>
              <a:rPr lang="en-US" dirty="0" smtClean="0"/>
              <a:t> and 10</a:t>
            </a:r>
            <a:r>
              <a:rPr lang="en-US" baseline="30000" dirty="0" smtClean="0"/>
              <a:t>th</a:t>
            </a:r>
            <a:r>
              <a:rPr lang="en-US" dirty="0" smtClean="0"/>
              <a:t> Calvary Buffalo Soldiers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343400"/>
            <a:ext cx="6400800" cy="685800"/>
          </a:xfrm>
        </p:spPr>
        <p:txBody>
          <a:bodyPr/>
          <a:lstStyle/>
          <a:p>
            <a:r>
              <a:rPr lang="en-US" dirty="0" smtClean="0"/>
              <a:t>A Five Minute History Brief</a:t>
            </a:r>
            <a:endParaRPr lang="en-US" dirty="0"/>
          </a:p>
        </p:txBody>
      </p:sp>
      <p:pic>
        <p:nvPicPr>
          <p:cNvPr id="1026" name="Picture 2" descr="C:\Users\zuzu\Desktop\Buffalo Soldiers\images\download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18214"/>
            <a:ext cx="1606018" cy="1649819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89908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 descr="C:\Users\zuzu\Desktop\Buffalo Soldiers\images\ki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" y="928740"/>
            <a:ext cx="1333500" cy="1657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Quote Bubble"/>
          <p:cNvSpPr/>
          <p:nvPr/>
        </p:nvSpPr>
        <p:spPr>
          <a:xfrm>
            <a:off x="1255949" y="304994"/>
            <a:ext cx="1944451" cy="800615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" name="Hey Mister, “What’s a Buffalo Soldier?”"/>
          <p:cNvSpPr txBox="1"/>
          <p:nvPr/>
        </p:nvSpPr>
        <p:spPr>
          <a:xfrm>
            <a:off x="1371600" y="489710"/>
            <a:ext cx="1752600" cy="46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sz="1400" kern="0" dirty="0">
                <a:latin typeface="Helvetica Neue"/>
                <a:sym typeface="Helvetica Neue"/>
              </a:rPr>
              <a:t>Hey Mister, “What’s a </a:t>
            </a:r>
            <a:r>
              <a:rPr sz="1400" kern="0" dirty="0" smtClean="0">
                <a:latin typeface="Helvetica Neue"/>
                <a:sym typeface="Helvetica Neue"/>
              </a:rPr>
              <a:t>Buffalo </a:t>
            </a:r>
            <a:r>
              <a:rPr sz="1400" kern="0" dirty="0">
                <a:latin typeface="Helvetica Neue"/>
                <a:sym typeface="Helvetica Neue"/>
              </a:rPr>
              <a:t>Soldier?”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1633879" y="457200"/>
            <a:ext cx="3928721" cy="3713779"/>
            <a:chOff x="2643625" y="2667000"/>
            <a:chExt cx="3928721" cy="3713779"/>
          </a:xfrm>
        </p:grpSpPr>
        <p:grpSp>
          <p:nvGrpSpPr>
            <p:cNvPr id="8" name="Group"/>
            <p:cNvGrpSpPr/>
            <p:nvPr/>
          </p:nvGrpSpPr>
          <p:grpSpPr>
            <a:xfrm>
              <a:off x="2643625" y="2667000"/>
              <a:ext cx="3928721" cy="3713779"/>
              <a:chOff x="0" y="0"/>
              <a:chExt cx="7508105" cy="7097332"/>
            </a:xfrm>
            <a:scene3d>
              <a:camera prst="isometricRightUp"/>
              <a:lightRig rig="threePt" dir="t"/>
            </a:scene3d>
          </p:grpSpPr>
          <p:pic>
            <p:nvPicPr>
              <p:cNvPr id="9" name="images.png" descr="images.png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0" y="0"/>
                <a:ext cx="7508106" cy="63695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0" name="Rectangle"/>
              <p:cNvSpPr/>
              <p:nvPr/>
            </p:nvSpPr>
            <p:spPr>
              <a:xfrm>
                <a:off x="2893302" y="211362"/>
                <a:ext cx="4563840" cy="6885971"/>
              </a:xfrm>
              <a:prstGeom prst="rect">
                <a:avLst/>
              </a:prstGeom>
              <a:solidFill>
                <a:srgbClr val="F6F6F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 hangingPunct="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3200" kern="0" dirty="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endParaRPr>
              </a:p>
            </p:txBody>
          </p:sp>
        </p:grpSp>
        <p:pic>
          <p:nvPicPr>
            <p:cNvPr id="11" name="Picture5.png" descr="Picture5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3352800" y="4278397"/>
              <a:ext cx="685800" cy="522203"/>
            </a:xfrm>
            <a:prstGeom prst="rect">
              <a:avLst/>
            </a:prstGeom>
            <a:ln w="12700">
              <a:miter lim="400000"/>
            </a:ln>
            <a:scene3d>
              <a:camera prst="isometricRightUp"/>
              <a:lightRig rig="threePt" dir="t"/>
            </a:scene3d>
          </p:spPr>
        </p:pic>
      </p:grpSp>
      <p:sp>
        <p:nvSpPr>
          <p:cNvPr id="12" name="Quote Bubble"/>
          <p:cNvSpPr/>
          <p:nvPr/>
        </p:nvSpPr>
        <p:spPr>
          <a:xfrm>
            <a:off x="3242921" y="838200"/>
            <a:ext cx="2014879" cy="838732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" name="Well… it all started back in 1866…."/>
          <p:cNvSpPr txBox="1"/>
          <p:nvPr/>
        </p:nvSpPr>
        <p:spPr>
          <a:xfrm>
            <a:off x="3395321" y="1053198"/>
            <a:ext cx="1710079" cy="46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sz="1400" kern="0" dirty="0">
                <a:latin typeface="Helvetica Neue"/>
                <a:sym typeface="Helvetica Neue"/>
              </a:rPr>
              <a:t>Well… it all started back in 1866….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3800" y="2878317"/>
            <a:ext cx="46482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Army Reorganization Act of </a:t>
            </a:r>
            <a:r>
              <a:rPr lang="en-US" dirty="0" smtClean="0"/>
              <a:t>1866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9</a:t>
            </a:r>
            <a:r>
              <a:rPr lang="en-US" baseline="30000" dirty="0" smtClean="0"/>
              <a:t>th</a:t>
            </a:r>
            <a:r>
              <a:rPr lang="en-US" dirty="0" smtClean="0"/>
              <a:t> and 10</a:t>
            </a:r>
            <a:r>
              <a:rPr lang="en-US" baseline="30000" dirty="0" smtClean="0"/>
              <a:t>th</a:t>
            </a:r>
            <a:r>
              <a:rPr lang="en-US" dirty="0" smtClean="0"/>
              <a:t> Calvary</a:t>
            </a:r>
            <a:r>
              <a:rPr lang="en-US" dirty="0"/>
              <a:t> </a:t>
            </a:r>
            <a:r>
              <a:rPr lang="en-US" dirty="0" smtClean="0"/>
              <a:t>and the 24</a:t>
            </a:r>
            <a:r>
              <a:rPr lang="en-US" baseline="30000" dirty="0" smtClean="0"/>
              <a:t>th</a:t>
            </a:r>
            <a:r>
              <a:rPr lang="en-US" dirty="0" smtClean="0"/>
              <a:t> and 25</a:t>
            </a:r>
            <a:r>
              <a:rPr lang="en-US" baseline="30000" dirty="0" smtClean="0"/>
              <a:t>th</a:t>
            </a:r>
            <a:r>
              <a:rPr lang="en-US" dirty="0" smtClean="0"/>
              <a:t> Infantry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Black soldier regiments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Name given to 10</a:t>
            </a:r>
            <a:r>
              <a:rPr lang="en-US" baseline="30000" dirty="0" smtClean="0"/>
              <a:t>th</a:t>
            </a:r>
            <a:r>
              <a:rPr lang="en-US" dirty="0" smtClean="0"/>
              <a:t> Calvary soldiers by native Americans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Name adopted by other regiments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Regiments “deactivated” starting in 1944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People still identify with/as Buffalo Soldiers after 1944</a:t>
            </a:r>
            <a:endParaRPr lang="en-US" dirty="0"/>
          </a:p>
        </p:txBody>
      </p:sp>
      <p:pic>
        <p:nvPicPr>
          <p:cNvPr id="18" name="Picture 4" descr="C:\Users\zuzu\Desktop\Buffalo Soldiers\Screenshot 2021-05-30 221553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0" y="5381434"/>
            <a:ext cx="371561" cy="1020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5" descr="C:\Users\zuzu\Desktop\Buffalo Soldiers\Screenshot 2021-05-30 221438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1221" y="5677754"/>
            <a:ext cx="333919" cy="856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zuzu\Desktop\Buffalo Soldiers\images\horse2.png"/>
          <p:cNvPicPr>
            <a:picLocks noChangeAspect="1" noChangeArrowheads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3344" y="1245161"/>
            <a:ext cx="1611312" cy="1500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27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Quote Bubble"/>
          <p:cNvSpPr/>
          <p:nvPr/>
        </p:nvSpPr>
        <p:spPr>
          <a:xfrm>
            <a:off x="1255949" y="304994"/>
            <a:ext cx="1944451" cy="800615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" name="Hey Mister, “What’s a Buffalo Soldier?”"/>
          <p:cNvSpPr txBox="1"/>
          <p:nvPr/>
        </p:nvSpPr>
        <p:spPr>
          <a:xfrm>
            <a:off x="1371600" y="489710"/>
            <a:ext cx="1752600" cy="46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lang="en-US" sz="1400" kern="0" dirty="0" smtClean="0">
                <a:latin typeface="Helvetica Neue"/>
                <a:sym typeface="Helvetica Neue"/>
              </a:rPr>
              <a:t>So you aren’t </a:t>
            </a:r>
            <a:r>
              <a:rPr sz="1400" kern="0" dirty="0" smtClean="0">
                <a:latin typeface="Helvetica Neue"/>
                <a:sym typeface="Helvetica Neue"/>
              </a:rPr>
              <a:t>a</a:t>
            </a:r>
            <a:r>
              <a:rPr lang="en-US" sz="1400" kern="0" dirty="0" smtClean="0">
                <a:latin typeface="Helvetica Neue"/>
                <a:sym typeface="Helvetica Neue"/>
              </a:rPr>
              <a:t> real</a:t>
            </a:r>
            <a:r>
              <a:rPr sz="1400" kern="0" dirty="0" smtClean="0">
                <a:latin typeface="Helvetica Neue"/>
                <a:sym typeface="Helvetica Neue"/>
              </a:rPr>
              <a:t> Buffalo </a:t>
            </a:r>
            <a:r>
              <a:rPr sz="1400" kern="0" dirty="0">
                <a:latin typeface="Helvetica Neue"/>
                <a:sym typeface="Helvetica Neue"/>
              </a:rPr>
              <a:t>Soldier</a:t>
            </a:r>
            <a:r>
              <a:rPr sz="1400" kern="0" dirty="0" smtClean="0">
                <a:latin typeface="Helvetica Neue"/>
                <a:sym typeface="Helvetica Neue"/>
              </a:rPr>
              <a:t>?</a:t>
            </a:r>
            <a:endParaRPr sz="1400" kern="0" dirty="0">
              <a:latin typeface="Helvetica Neue"/>
              <a:sym typeface="Helvetica Neue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633879" y="457200"/>
            <a:ext cx="3928721" cy="3713779"/>
            <a:chOff x="2643625" y="2667000"/>
            <a:chExt cx="3928721" cy="3713779"/>
          </a:xfrm>
        </p:grpSpPr>
        <p:grpSp>
          <p:nvGrpSpPr>
            <p:cNvPr id="8" name="Group"/>
            <p:cNvGrpSpPr/>
            <p:nvPr/>
          </p:nvGrpSpPr>
          <p:grpSpPr>
            <a:xfrm>
              <a:off x="2643625" y="2667000"/>
              <a:ext cx="3928721" cy="3713779"/>
              <a:chOff x="0" y="0"/>
              <a:chExt cx="7508105" cy="7097332"/>
            </a:xfrm>
            <a:scene3d>
              <a:camera prst="isometricRightUp"/>
              <a:lightRig rig="threePt" dir="t"/>
            </a:scene3d>
          </p:grpSpPr>
          <p:pic>
            <p:nvPicPr>
              <p:cNvPr id="9" name="images.png" descr="images.png"/>
              <p:cNvPicPr>
                <a:picLocks noChangeAspect="1"/>
              </p:cNvPicPr>
              <p:nvPr/>
            </p:nvPicPr>
            <p:blipFill>
              <a:blip r:embed="rId2">
                <a:extLst/>
              </a:blip>
              <a:stretch>
                <a:fillRect/>
              </a:stretch>
            </p:blipFill>
            <p:spPr>
              <a:xfrm>
                <a:off x="0" y="0"/>
                <a:ext cx="7508106" cy="63695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0" name="Rectangle"/>
              <p:cNvSpPr/>
              <p:nvPr/>
            </p:nvSpPr>
            <p:spPr>
              <a:xfrm>
                <a:off x="2893302" y="211362"/>
                <a:ext cx="4563840" cy="6885971"/>
              </a:xfrm>
              <a:prstGeom prst="rect">
                <a:avLst/>
              </a:prstGeom>
              <a:solidFill>
                <a:srgbClr val="F6F6F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 hangingPunct="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3200" kern="0" dirty="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endParaRPr>
              </a:p>
            </p:txBody>
          </p:sp>
        </p:grpSp>
        <p:pic>
          <p:nvPicPr>
            <p:cNvPr id="11" name="Picture5.png" descr="Picture5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352800" y="4278397"/>
              <a:ext cx="685800" cy="522203"/>
            </a:xfrm>
            <a:prstGeom prst="rect">
              <a:avLst/>
            </a:prstGeom>
            <a:ln w="12700">
              <a:miter lim="400000"/>
            </a:ln>
            <a:scene3d>
              <a:camera prst="isometricRightUp"/>
              <a:lightRig rig="threePt" dir="t"/>
            </a:scene3d>
          </p:spPr>
        </p:pic>
      </p:grpSp>
      <p:sp>
        <p:nvSpPr>
          <p:cNvPr id="12" name="Quote Bubble"/>
          <p:cNvSpPr/>
          <p:nvPr/>
        </p:nvSpPr>
        <p:spPr>
          <a:xfrm>
            <a:off x="3242921" y="838200"/>
            <a:ext cx="2014879" cy="838732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" name="Well… it all started back in 1866…."/>
          <p:cNvSpPr txBox="1"/>
          <p:nvPr/>
        </p:nvSpPr>
        <p:spPr>
          <a:xfrm>
            <a:off x="3395321" y="1128603"/>
            <a:ext cx="1710079" cy="3180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/>
            <a:r>
              <a:rPr lang="en-US" sz="1400" kern="0" dirty="0" smtClean="0">
                <a:latin typeface="Helvetica Neue"/>
                <a:sym typeface="Helvetica Neue"/>
              </a:rPr>
              <a:t>Nope</a:t>
            </a:r>
            <a:r>
              <a:rPr sz="1400" kern="0" dirty="0" smtClean="0">
                <a:latin typeface="Helvetica Neue"/>
                <a:sym typeface="Helvetica Neue"/>
              </a:rPr>
              <a:t>…</a:t>
            </a:r>
            <a:endParaRPr sz="1400" kern="0" dirty="0">
              <a:latin typeface="Helvetica Neue"/>
              <a:sym typeface="Helvetica Neue"/>
            </a:endParaRPr>
          </a:p>
        </p:txBody>
      </p:sp>
      <p:pic>
        <p:nvPicPr>
          <p:cNvPr id="1026" name="Picture 2" descr="C:\Users\zuzu\Desktop\Picture1.png"/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44" y="223088"/>
            <a:ext cx="2060575" cy="236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/>
          <p:cNvSpPr txBox="1"/>
          <p:nvPr/>
        </p:nvSpPr>
        <p:spPr>
          <a:xfrm>
            <a:off x="3733800" y="2878317"/>
            <a:ext cx="4648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All “real” Buffalo Soldiers are dead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All us of that wear something that says “Buffalo Soldiers” are paying respect and honor to the "real Buffalo Soldiers” that served in those units</a:t>
            </a:r>
          </a:p>
        </p:txBody>
      </p:sp>
      <p:pic>
        <p:nvPicPr>
          <p:cNvPr id="2051" name="Picture 3" descr="C:\Users\zuzu\Desktop\Buffalo Soldiers\images\rip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2581" y="1905000"/>
            <a:ext cx="809626" cy="1209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C:\Users\zuzu\Desktop\Buffalo Soldiers\images\images11.jp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4680612"/>
            <a:ext cx="1271588" cy="1335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C:\Users\zuzu\Desktop\Buffalo Soldiers\images\honor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4211" y="4376181"/>
            <a:ext cx="1073183" cy="1700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C:\Users\zuzu\Desktop\Buffalo Soldiers\images\Screenshot 2021-05-31 202100.png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1845" y="4971493"/>
            <a:ext cx="1343025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116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Quote Bubble"/>
          <p:cNvSpPr/>
          <p:nvPr/>
        </p:nvSpPr>
        <p:spPr>
          <a:xfrm>
            <a:off x="1255949" y="304994"/>
            <a:ext cx="1944451" cy="800615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" name="Hey Mister, “What’s a Buffalo Soldier?”"/>
          <p:cNvSpPr txBox="1"/>
          <p:nvPr/>
        </p:nvSpPr>
        <p:spPr>
          <a:xfrm>
            <a:off x="1371600" y="565115"/>
            <a:ext cx="1752600" cy="3180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/>
            <a:r>
              <a:rPr lang="en-US" sz="1400" kern="0" dirty="0" smtClean="0">
                <a:latin typeface="Helvetica Neue"/>
                <a:sym typeface="Helvetica Neue"/>
              </a:rPr>
              <a:t>Why</a:t>
            </a:r>
            <a:r>
              <a:rPr sz="1400" kern="0" dirty="0" smtClean="0">
                <a:latin typeface="Helvetica Neue"/>
                <a:sym typeface="Helvetica Neue"/>
              </a:rPr>
              <a:t>?</a:t>
            </a:r>
            <a:endParaRPr sz="1400" kern="0" dirty="0">
              <a:latin typeface="Helvetica Neue"/>
              <a:sym typeface="Helvetica Neue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633879" y="457200"/>
            <a:ext cx="3928721" cy="3713779"/>
            <a:chOff x="2643625" y="2667000"/>
            <a:chExt cx="3928721" cy="3713779"/>
          </a:xfrm>
        </p:grpSpPr>
        <p:grpSp>
          <p:nvGrpSpPr>
            <p:cNvPr id="8" name="Group"/>
            <p:cNvGrpSpPr/>
            <p:nvPr/>
          </p:nvGrpSpPr>
          <p:grpSpPr>
            <a:xfrm>
              <a:off x="2643625" y="2667000"/>
              <a:ext cx="3928721" cy="3713779"/>
              <a:chOff x="0" y="0"/>
              <a:chExt cx="7508105" cy="7097332"/>
            </a:xfrm>
            <a:scene3d>
              <a:camera prst="isometricRightUp"/>
              <a:lightRig rig="threePt" dir="t"/>
            </a:scene3d>
          </p:grpSpPr>
          <p:pic>
            <p:nvPicPr>
              <p:cNvPr id="9" name="images.png" descr="images.png"/>
              <p:cNvPicPr>
                <a:picLocks noChangeAspect="1"/>
              </p:cNvPicPr>
              <p:nvPr/>
            </p:nvPicPr>
            <p:blipFill>
              <a:blip r:embed="rId2">
                <a:extLst/>
              </a:blip>
              <a:stretch>
                <a:fillRect/>
              </a:stretch>
            </p:blipFill>
            <p:spPr>
              <a:xfrm>
                <a:off x="0" y="0"/>
                <a:ext cx="7508106" cy="63695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0" name="Rectangle"/>
              <p:cNvSpPr/>
              <p:nvPr/>
            </p:nvSpPr>
            <p:spPr>
              <a:xfrm>
                <a:off x="2893302" y="211362"/>
                <a:ext cx="4563840" cy="6885971"/>
              </a:xfrm>
              <a:prstGeom prst="rect">
                <a:avLst/>
              </a:prstGeom>
              <a:solidFill>
                <a:srgbClr val="F6F6F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 hangingPunct="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3200" kern="0" dirty="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endParaRPr>
              </a:p>
            </p:txBody>
          </p:sp>
        </p:grpSp>
        <p:pic>
          <p:nvPicPr>
            <p:cNvPr id="11" name="Picture5.png" descr="Picture5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352800" y="4278397"/>
              <a:ext cx="685800" cy="522203"/>
            </a:xfrm>
            <a:prstGeom prst="rect">
              <a:avLst/>
            </a:prstGeom>
            <a:ln w="12700">
              <a:miter lim="400000"/>
            </a:ln>
            <a:scene3d>
              <a:camera prst="isometricRightUp"/>
              <a:lightRig rig="threePt" dir="t"/>
            </a:scene3d>
          </p:spPr>
        </p:pic>
      </p:grpSp>
      <p:sp>
        <p:nvSpPr>
          <p:cNvPr id="12" name="Quote Bubble"/>
          <p:cNvSpPr/>
          <p:nvPr/>
        </p:nvSpPr>
        <p:spPr>
          <a:xfrm>
            <a:off x="3242921" y="838200"/>
            <a:ext cx="2014879" cy="838732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" name="Well… it all started back in 1866…."/>
          <p:cNvSpPr txBox="1"/>
          <p:nvPr/>
        </p:nvSpPr>
        <p:spPr>
          <a:xfrm>
            <a:off x="3395321" y="961635"/>
            <a:ext cx="1710079" cy="651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lang="en-US" sz="1400" kern="0" dirty="0" smtClean="0">
                <a:latin typeface="Helvetica Neue"/>
                <a:sym typeface="Helvetica Neue"/>
              </a:rPr>
              <a:t>Because of what they did and what they endured</a:t>
            </a:r>
            <a:r>
              <a:rPr sz="1400" kern="0" dirty="0" smtClean="0">
                <a:latin typeface="Helvetica Neue"/>
                <a:sym typeface="Helvetica Neue"/>
              </a:rPr>
              <a:t>…</a:t>
            </a:r>
            <a:endParaRPr sz="1400" kern="0" dirty="0">
              <a:latin typeface="Helvetica Neue"/>
              <a:sym typeface="Helvetica Neue"/>
            </a:endParaRPr>
          </a:p>
        </p:txBody>
      </p:sp>
      <p:pic>
        <p:nvPicPr>
          <p:cNvPr id="1026" name="Picture 2" descr="C:\Users\zuzu\Desktop\Picture1.png"/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44" y="223088"/>
            <a:ext cx="2060575" cy="236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/>
          <p:cNvSpPr txBox="1"/>
          <p:nvPr/>
        </p:nvSpPr>
        <p:spPr>
          <a:xfrm>
            <a:off x="3810000" y="3124200"/>
            <a:ext cx="23241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Racism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Inferior resources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Less pay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White officers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</p:txBody>
      </p:sp>
      <p:sp>
        <p:nvSpPr>
          <p:cNvPr id="17" name="TextBox 16"/>
          <p:cNvSpPr txBox="1"/>
          <p:nvPr/>
        </p:nvSpPr>
        <p:spPr>
          <a:xfrm>
            <a:off x="6324600" y="2636011"/>
            <a:ext cx="256687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Superior horsemanship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Proven soldiers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Fought with distinction in numerous campaigns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Professionalism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Low </a:t>
            </a:r>
            <a:r>
              <a:rPr lang="en-US" dirty="0" smtClean="0"/>
              <a:t>desertion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</p:txBody>
      </p:sp>
      <p:pic>
        <p:nvPicPr>
          <p:cNvPr id="3075" name="Picture 3" descr="C:\Users\zuzu\Desktop\Buffalo Soldiers\images\uphill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8999" y="4724400"/>
            <a:ext cx="1212802" cy="1165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C:\Users\zuzu\Desktop\Buffalo Soldiers\horse2.png"/>
          <p:cNvPicPr>
            <a:picLocks noChangeAspect="1" noChangeArrowheads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824" y="1257566"/>
            <a:ext cx="1168813" cy="1088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2317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Quote Bubble"/>
          <p:cNvSpPr/>
          <p:nvPr/>
        </p:nvSpPr>
        <p:spPr>
          <a:xfrm>
            <a:off x="1255949" y="304994"/>
            <a:ext cx="1944451" cy="800615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" name="Hey Mister, “What’s a Buffalo Soldier?”"/>
          <p:cNvSpPr txBox="1"/>
          <p:nvPr/>
        </p:nvSpPr>
        <p:spPr>
          <a:xfrm>
            <a:off x="1371600" y="565115"/>
            <a:ext cx="1752600" cy="3180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/>
            <a:r>
              <a:rPr lang="en-US" sz="1400" kern="0" dirty="0" smtClean="0">
                <a:latin typeface="Helvetica Neue"/>
                <a:sym typeface="Helvetica Neue"/>
              </a:rPr>
              <a:t>What did they do?</a:t>
            </a:r>
            <a:endParaRPr sz="1400" kern="0" dirty="0">
              <a:latin typeface="Helvetica Neue"/>
              <a:sym typeface="Helvetica Neue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633879" y="457200"/>
            <a:ext cx="3928721" cy="3713779"/>
            <a:chOff x="2643625" y="2667000"/>
            <a:chExt cx="3928721" cy="3713779"/>
          </a:xfrm>
        </p:grpSpPr>
        <p:grpSp>
          <p:nvGrpSpPr>
            <p:cNvPr id="8" name="Group"/>
            <p:cNvGrpSpPr/>
            <p:nvPr/>
          </p:nvGrpSpPr>
          <p:grpSpPr>
            <a:xfrm>
              <a:off x="2643625" y="2667000"/>
              <a:ext cx="3928721" cy="3713779"/>
              <a:chOff x="0" y="0"/>
              <a:chExt cx="7508105" cy="7097332"/>
            </a:xfrm>
            <a:scene3d>
              <a:camera prst="isometricRightUp"/>
              <a:lightRig rig="threePt" dir="t"/>
            </a:scene3d>
          </p:grpSpPr>
          <p:pic>
            <p:nvPicPr>
              <p:cNvPr id="9" name="images.png" descr="images.png"/>
              <p:cNvPicPr>
                <a:picLocks noChangeAspect="1"/>
              </p:cNvPicPr>
              <p:nvPr/>
            </p:nvPicPr>
            <p:blipFill>
              <a:blip r:embed="rId2">
                <a:extLst/>
              </a:blip>
              <a:stretch>
                <a:fillRect/>
              </a:stretch>
            </p:blipFill>
            <p:spPr>
              <a:xfrm>
                <a:off x="0" y="0"/>
                <a:ext cx="7508106" cy="63695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0" name="Rectangle"/>
              <p:cNvSpPr/>
              <p:nvPr/>
            </p:nvSpPr>
            <p:spPr>
              <a:xfrm>
                <a:off x="2893302" y="211362"/>
                <a:ext cx="4563840" cy="6885971"/>
              </a:xfrm>
              <a:prstGeom prst="rect">
                <a:avLst/>
              </a:prstGeom>
              <a:solidFill>
                <a:srgbClr val="F6F6F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 hangingPunct="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3200" kern="0" dirty="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endParaRPr>
              </a:p>
            </p:txBody>
          </p:sp>
        </p:grpSp>
        <p:pic>
          <p:nvPicPr>
            <p:cNvPr id="11" name="Picture5.png" descr="Picture5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352800" y="4278397"/>
              <a:ext cx="685800" cy="522203"/>
            </a:xfrm>
            <a:prstGeom prst="rect">
              <a:avLst/>
            </a:prstGeom>
            <a:ln w="12700">
              <a:miter lim="400000"/>
            </a:ln>
            <a:scene3d>
              <a:camera prst="isometricRightUp"/>
              <a:lightRig rig="threePt" dir="t"/>
            </a:scene3d>
          </p:spPr>
        </p:pic>
      </p:grpSp>
      <p:sp>
        <p:nvSpPr>
          <p:cNvPr id="12" name="Quote Bubble"/>
          <p:cNvSpPr/>
          <p:nvPr/>
        </p:nvSpPr>
        <p:spPr>
          <a:xfrm>
            <a:off x="3242921" y="838200"/>
            <a:ext cx="2014879" cy="838732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" name="Well… it all started back in 1866…."/>
          <p:cNvSpPr txBox="1"/>
          <p:nvPr/>
        </p:nvSpPr>
        <p:spPr>
          <a:xfrm>
            <a:off x="3429000" y="948227"/>
            <a:ext cx="1710079" cy="651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lang="en-US" sz="1400" kern="0" dirty="0" smtClean="0">
                <a:latin typeface="Helvetica Neue"/>
                <a:sym typeface="Helvetica Neue"/>
              </a:rPr>
              <a:t>Opened the American West and fought in wars</a:t>
            </a:r>
            <a:endParaRPr sz="1400" kern="0" dirty="0">
              <a:latin typeface="Helvetica Neue"/>
              <a:sym typeface="Helvetica Neue"/>
            </a:endParaRPr>
          </a:p>
        </p:txBody>
      </p:sp>
      <p:pic>
        <p:nvPicPr>
          <p:cNvPr id="1026" name="Picture 2" descr="C:\Users\zuzu\Desktop\Picture1.png"/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44" y="223088"/>
            <a:ext cx="2060575" cy="236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/>
          <p:cNvSpPr txBox="1"/>
          <p:nvPr/>
        </p:nvSpPr>
        <p:spPr>
          <a:xfrm>
            <a:off x="4038600" y="2743200"/>
            <a:ext cx="44958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Secured roads and bridges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Protected railroads and mail routes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Protected settlers  during westward expansion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Developed and protected National Parks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Taught riding to cadets at West Point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Fought in many wars and military campaigns</a:t>
            </a:r>
          </a:p>
        </p:txBody>
      </p:sp>
      <p:pic>
        <p:nvPicPr>
          <p:cNvPr id="2050" name="Picture 2" descr="C:\Users\zuzu\Desktop\238-2383061_silhouette-clipart-train-thomas-the-train-silhouette.png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7F7F7"/>
              </a:clrFrom>
              <a:clrTo>
                <a:srgbClr val="F7F7F7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6006" y="1578492"/>
            <a:ext cx="2063597" cy="98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7040" y="5220019"/>
            <a:ext cx="2008893" cy="9342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3" name="Picture 2" descr="C:\Users\zuzu\Desktop\Buffalo Soldiers\images\images-3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177" y="4857306"/>
            <a:ext cx="1594426" cy="1659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8" name="Footer Placeholder 1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035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Quote Bubble"/>
          <p:cNvSpPr/>
          <p:nvPr/>
        </p:nvSpPr>
        <p:spPr>
          <a:xfrm>
            <a:off x="1255949" y="304994"/>
            <a:ext cx="1944451" cy="800615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" name="Hey Mister, “What’s a Buffalo Soldier?”"/>
          <p:cNvSpPr txBox="1"/>
          <p:nvPr/>
        </p:nvSpPr>
        <p:spPr>
          <a:xfrm>
            <a:off x="1371600" y="489710"/>
            <a:ext cx="1752600" cy="46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lang="en-US" sz="1400" kern="0" dirty="0" smtClean="0">
                <a:latin typeface="Helvetica Neue"/>
                <a:sym typeface="Helvetica Neue"/>
              </a:rPr>
              <a:t>Where did they fight?</a:t>
            </a:r>
            <a:endParaRPr sz="1400" kern="0" dirty="0">
              <a:latin typeface="Helvetica Neue"/>
              <a:sym typeface="Helvetica Neue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633879" y="457200"/>
            <a:ext cx="3928721" cy="3713779"/>
            <a:chOff x="2643625" y="2667000"/>
            <a:chExt cx="3928721" cy="3713779"/>
          </a:xfrm>
        </p:grpSpPr>
        <p:grpSp>
          <p:nvGrpSpPr>
            <p:cNvPr id="8" name="Group"/>
            <p:cNvGrpSpPr/>
            <p:nvPr/>
          </p:nvGrpSpPr>
          <p:grpSpPr>
            <a:xfrm>
              <a:off x="2643625" y="2667000"/>
              <a:ext cx="3928721" cy="3713779"/>
              <a:chOff x="0" y="0"/>
              <a:chExt cx="7508105" cy="7097332"/>
            </a:xfrm>
            <a:scene3d>
              <a:camera prst="isometricRightUp"/>
              <a:lightRig rig="threePt" dir="t"/>
            </a:scene3d>
          </p:grpSpPr>
          <p:pic>
            <p:nvPicPr>
              <p:cNvPr id="9" name="images.png" descr="images.png"/>
              <p:cNvPicPr>
                <a:picLocks noChangeAspect="1"/>
              </p:cNvPicPr>
              <p:nvPr/>
            </p:nvPicPr>
            <p:blipFill>
              <a:blip r:embed="rId2">
                <a:extLst/>
              </a:blip>
              <a:stretch>
                <a:fillRect/>
              </a:stretch>
            </p:blipFill>
            <p:spPr>
              <a:xfrm>
                <a:off x="0" y="0"/>
                <a:ext cx="7508106" cy="63695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0" name="Rectangle"/>
              <p:cNvSpPr/>
              <p:nvPr/>
            </p:nvSpPr>
            <p:spPr>
              <a:xfrm>
                <a:off x="2893302" y="211362"/>
                <a:ext cx="4563840" cy="6885971"/>
              </a:xfrm>
              <a:prstGeom prst="rect">
                <a:avLst/>
              </a:prstGeom>
              <a:solidFill>
                <a:srgbClr val="F6F6F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 hangingPunct="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3200" kern="0" dirty="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endParaRPr>
              </a:p>
            </p:txBody>
          </p:sp>
        </p:grpSp>
        <p:pic>
          <p:nvPicPr>
            <p:cNvPr id="11" name="Picture5.png" descr="Picture5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352800" y="4278397"/>
              <a:ext cx="685800" cy="522203"/>
            </a:xfrm>
            <a:prstGeom prst="rect">
              <a:avLst/>
            </a:prstGeom>
            <a:ln w="12700">
              <a:miter lim="400000"/>
            </a:ln>
            <a:scene3d>
              <a:camera prst="isometricRightUp"/>
              <a:lightRig rig="threePt" dir="t"/>
            </a:scene3d>
          </p:spPr>
        </p:pic>
      </p:grpSp>
      <p:sp>
        <p:nvSpPr>
          <p:cNvPr id="12" name="Quote Bubble"/>
          <p:cNvSpPr/>
          <p:nvPr/>
        </p:nvSpPr>
        <p:spPr>
          <a:xfrm>
            <a:off x="3242921" y="838200"/>
            <a:ext cx="2014879" cy="838732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" name="Well… it all started back in 1866…."/>
          <p:cNvSpPr txBox="1"/>
          <p:nvPr/>
        </p:nvSpPr>
        <p:spPr>
          <a:xfrm>
            <a:off x="3429000" y="962875"/>
            <a:ext cx="1710079" cy="651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lang="en-US" sz="1400" kern="0" dirty="0" smtClean="0">
                <a:latin typeface="Helvetica Neue"/>
                <a:sym typeface="Helvetica Neue"/>
              </a:rPr>
              <a:t>In the US, Cuba, Mexico and the  Philippines</a:t>
            </a:r>
            <a:endParaRPr sz="1400" kern="0" dirty="0">
              <a:latin typeface="Helvetica Neue"/>
              <a:sym typeface="Helvetica Neue"/>
            </a:endParaRPr>
          </a:p>
        </p:txBody>
      </p:sp>
      <p:pic>
        <p:nvPicPr>
          <p:cNvPr id="1026" name="Picture 2" descr="C:\Users\zuzu\Desktop\Picture1.png"/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44" y="223088"/>
            <a:ext cx="2060575" cy="236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/>
          <p:cNvSpPr txBox="1"/>
          <p:nvPr/>
        </p:nvSpPr>
        <p:spPr>
          <a:xfrm>
            <a:off x="5122906" y="2662734"/>
            <a:ext cx="4021094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Indian Wars</a:t>
            </a:r>
          </a:p>
          <a:p>
            <a:pPr lvl="1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American West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Spanish-American War</a:t>
            </a:r>
          </a:p>
          <a:p>
            <a:pPr lvl="1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Santiago Cuba - San Juan Hill with the Rough Riders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Philippine–American </a:t>
            </a:r>
            <a:r>
              <a:rPr lang="en-US" dirty="0" smtClean="0"/>
              <a:t>War</a:t>
            </a:r>
            <a:endParaRPr lang="en-US" dirty="0"/>
          </a:p>
          <a:p>
            <a:pPr lvl="1" indent="-285750">
              <a:buFont typeface="Arial" panose="020B0604020202020204" pitchFamily="34" charset="0"/>
              <a:buChar char="•"/>
            </a:pPr>
            <a:r>
              <a:rPr lang="en-US" sz="1600" dirty="0" smtClean="0"/>
              <a:t>Conflicted sentiment</a:t>
            </a:r>
            <a:endParaRPr lang="en-US" sz="16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Mexican Expedition</a:t>
            </a:r>
          </a:p>
          <a:p>
            <a:pPr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Poncho Villa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 smtClean="0"/>
          </a:p>
        </p:txBody>
      </p:sp>
      <p:pic>
        <p:nvPicPr>
          <p:cNvPr id="4098" name="Picture 2" descr="C:\Users\zuzu\Desktop\733062_search_512x512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1730441"/>
            <a:ext cx="1277894" cy="1277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C:\Users\zuzu\Desktop\Buffalo Soldiers\Screenshot 2021-05-30 221553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7107" y="4179839"/>
            <a:ext cx="670986" cy="1843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5" descr="C:\Users\zuzu\Desktop\Buffalo Soldiers\Screenshot 2021-05-30 221438.pn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4789" y="4909070"/>
            <a:ext cx="603011" cy="1546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940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Quote Bubble"/>
          <p:cNvSpPr/>
          <p:nvPr/>
        </p:nvSpPr>
        <p:spPr>
          <a:xfrm>
            <a:off x="1255949" y="304994"/>
            <a:ext cx="1944451" cy="800615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" name="Hey Mister, “What’s a Buffalo Soldier?”"/>
          <p:cNvSpPr txBox="1"/>
          <p:nvPr/>
        </p:nvSpPr>
        <p:spPr>
          <a:xfrm>
            <a:off x="1371600" y="489710"/>
            <a:ext cx="1752600" cy="46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lang="en-US" sz="1400" kern="0" dirty="0" smtClean="0">
                <a:latin typeface="Helvetica Neue"/>
                <a:sym typeface="Helvetica Neue"/>
              </a:rPr>
              <a:t>What about World Wars I and II?</a:t>
            </a:r>
            <a:endParaRPr sz="1400" kern="0" dirty="0">
              <a:latin typeface="Helvetica Neue"/>
              <a:sym typeface="Helvetica Neue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633879" y="457200"/>
            <a:ext cx="3928721" cy="3713779"/>
            <a:chOff x="2643625" y="2667000"/>
            <a:chExt cx="3928721" cy="3713779"/>
          </a:xfrm>
        </p:grpSpPr>
        <p:grpSp>
          <p:nvGrpSpPr>
            <p:cNvPr id="8" name="Group"/>
            <p:cNvGrpSpPr/>
            <p:nvPr/>
          </p:nvGrpSpPr>
          <p:grpSpPr>
            <a:xfrm>
              <a:off x="2643625" y="2667000"/>
              <a:ext cx="3928721" cy="3713779"/>
              <a:chOff x="0" y="0"/>
              <a:chExt cx="7508105" cy="7097332"/>
            </a:xfrm>
            <a:scene3d>
              <a:camera prst="isometricRightUp"/>
              <a:lightRig rig="threePt" dir="t"/>
            </a:scene3d>
          </p:grpSpPr>
          <p:pic>
            <p:nvPicPr>
              <p:cNvPr id="9" name="images.png" descr="images.png"/>
              <p:cNvPicPr>
                <a:picLocks noChangeAspect="1"/>
              </p:cNvPicPr>
              <p:nvPr/>
            </p:nvPicPr>
            <p:blipFill>
              <a:blip r:embed="rId2">
                <a:extLst/>
              </a:blip>
              <a:stretch>
                <a:fillRect/>
              </a:stretch>
            </p:blipFill>
            <p:spPr>
              <a:xfrm>
                <a:off x="0" y="0"/>
                <a:ext cx="7508106" cy="63695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0" name="Rectangle"/>
              <p:cNvSpPr/>
              <p:nvPr/>
            </p:nvSpPr>
            <p:spPr>
              <a:xfrm>
                <a:off x="2893302" y="211362"/>
                <a:ext cx="4563840" cy="6885971"/>
              </a:xfrm>
              <a:prstGeom prst="rect">
                <a:avLst/>
              </a:prstGeom>
              <a:solidFill>
                <a:srgbClr val="F6F6F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 hangingPunct="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3200" kern="0" dirty="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endParaRPr>
              </a:p>
            </p:txBody>
          </p:sp>
        </p:grpSp>
        <p:pic>
          <p:nvPicPr>
            <p:cNvPr id="11" name="Picture5.png" descr="Picture5.png"/>
            <p:cNvPicPr>
              <a:picLocks noChangeAspect="1"/>
            </p:cNvPicPr>
            <p:nvPr/>
          </p:nvPicPr>
          <p:blipFill>
            <a:blip r:embed="rId3">
              <a:extLst/>
            </a:blip>
            <a:stretch>
              <a:fillRect/>
            </a:stretch>
          </p:blipFill>
          <p:spPr>
            <a:xfrm>
              <a:off x="3352800" y="4278397"/>
              <a:ext cx="685800" cy="522203"/>
            </a:xfrm>
            <a:prstGeom prst="rect">
              <a:avLst/>
            </a:prstGeom>
            <a:ln w="12700">
              <a:miter lim="400000"/>
            </a:ln>
            <a:scene3d>
              <a:camera prst="isometricRightUp"/>
              <a:lightRig rig="threePt" dir="t"/>
            </a:scene3d>
          </p:spPr>
        </p:pic>
      </p:grpSp>
      <p:sp>
        <p:nvSpPr>
          <p:cNvPr id="12" name="Quote Bubble"/>
          <p:cNvSpPr/>
          <p:nvPr/>
        </p:nvSpPr>
        <p:spPr>
          <a:xfrm>
            <a:off x="3242921" y="838200"/>
            <a:ext cx="2014879" cy="838732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" name="Well… it all started back in 1866…."/>
          <p:cNvSpPr txBox="1"/>
          <p:nvPr/>
        </p:nvSpPr>
        <p:spPr>
          <a:xfrm>
            <a:off x="3429000" y="1054438"/>
            <a:ext cx="1710079" cy="46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lang="en-US" sz="1400" kern="0" dirty="0" smtClean="0">
                <a:latin typeface="Helvetica Neue"/>
                <a:sym typeface="Helvetica Neue"/>
              </a:rPr>
              <a:t>Not deployed as regiments to fight</a:t>
            </a:r>
            <a:endParaRPr sz="1400" kern="0" dirty="0">
              <a:latin typeface="Helvetica Neue"/>
              <a:sym typeface="Helvetica Neue"/>
            </a:endParaRPr>
          </a:p>
        </p:txBody>
      </p:sp>
      <p:pic>
        <p:nvPicPr>
          <p:cNvPr id="1026" name="Picture 2" descr="C:\Users\zuzu\Desktop\Picture1.png"/>
          <p:cNvPicPr>
            <a:picLocks noChangeAspect="1" noChangeArrowheads="1"/>
          </p:cNvPicPr>
          <p:nvPr/>
        </p:nvPicPr>
        <p:blipFill>
          <a:blip r:embed="rId4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44" y="223088"/>
            <a:ext cx="2060575" cy="236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/>
          <p:cNvSpPr txBox="1"/>
          <p:nvPr/>
        </p:nvSpPr>
        <p:spPr>
          <a:xfrm>
            <a:off x="4247848" y="2819400"/>
            <a:ext cx="42840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Buffalo Soldiers not deployed in WW-I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Calvary deactivated in 1944 leading into WW-II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92</a:t>
            </a:r>
            <a:r>
              <a:rPr lang="en-US" baseline="30000" dirty="0" smtClean="0"/>
              <a:t>nd</a:t>
            </a:r>
            <a:r>
              <a:rPr lang="en-US" dirty="0" smtClean="0"/>
              <a:t> and 93</a:t>
            </a:r>
            <a:r>
              <a:rPr lang="en-US" baseline="30000" dirty="0" smtClean="0"/>
              <a:t>rd</a:t>
            </a:r>
            <a:r>
              <a:rPr lang="en-US" dirty="0" smtClean="0"/>
              <a:t> Infantry Divisions formed</a:t>
            </a:r>
          </a:p>
          <a:p>
            <a:pPr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Served in France and Italy</a:t>
            </a:r>
          </a:p>
          <a:p>
            <a:pPr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WW-I under French command</a:t>
            </a:r>
          </a:p>
          <a:p>
            <a:pPr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WW-II in both Pacific and Europe</a:t>
            </a:r>
          </a:p>
          <a:p>
            <a:pPr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92</a:t>
            </a:r>
            <a:r>
              <a:rPr lang="en-US" baseline="30000" dirty="0" smtClean="0"/>
              <a:t>nd</a:t>
            </a:r>
            <a:r>
              <a:rPr lang="en-US" dirty="0" smtClean="0"/>
              <a:t> takes nickname “Buffalo Soldiers”</a:t>
            </a:r>
          </a:p>
        </p:txBody>
      </p:sp>
      <p:pic>
        <p:nvPicPr>
          <p:cNvPr id="15" name="Picture 5" descr="C:\Users\zuzu\Desktop\Buffalo Soldiers\images\Screenshot 2021-05-31 220817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4044" y="1676932"/>
            <a:ext cx="2031058" cy="924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00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Quote Bubble"/>
          <p:cNvSpPr/>
          <p:nvPr/>
        </p:nvSpPr>
        <p:spPr>
          <a:xfrm>
            <a:off x="1255949" y="304800"/>
            <a:ext cx="1944451" cy="800615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7" name="Hey Mister, “What’s a Buffalo Soldier?”"/>
          <p:cNvSpPr txBox="1"/>
          <p:nvPr/>
        </p:nvSpPr>
        <p:spPr>
          <a:xfrm>
            <a:off x="1371600" y="489437"/>
            <a:ext cx="1752600" cy="46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lang="en-US" sz="1400" kern="0" dirty="0" smtClean="0">
                <a:latin typeface="Helvetica Neue"/>
                <a:sym typeface="Helvetica Neue"/>
              </a:rPr>
              <a:t>How are they remembered today?</a:t>
            </a:r>
            <a:endParaRPr sz="1400" kern="0" dirty="0">
              <a:latin typeface="Helvetica Neue"/>
              <a:sym typeface="Helvetica Neue"/>
            </a:endParaRPr>
          </a:p>
        </p:txBody>
      </p:sp>
      <p:grpSp>
        <p:nvGrpSpPr>
          <p:cNvPr id="14" name="Group 13"/>
          <p:cNvGrpSpPr/>
          <p:nvPr/>
        </p:nvGrpSpPr>
        <p:grpSpPr>
          <a:xfrm>
            <a:off x="1633879" y="457200"/>
            <a:ext cx="3928721" cy="3713779"/>
            <a:chOff x="2643625" y="2667000"/>
            <a:chExt cx="3928721" cy="3713779"/>
          </a:xfrm>
        </p:grpSpPr>
        <p:grpSp>
          <p:nvGrpSpPr>
            <p:cNvPr id="8" name="Group"/>
            <p:cNvGrpSpPr/>
            <p:nvPr/>
          </p:nvGrpSpPr>
          <p:grpSpPr>
            <a:xfrm>
              <a:off x="2643625" y="2667000"/>
              <a:ext cx="3928721" cy="3713779"/>
              <a:chOff x="0" y="0"/>
              <a:chExt cx="7508105" cy="7097332"/>
            </a:xfrm>
            <a:scene3d>
              <a:camera prst="isometricRightUp"/>
              <a:lightRig rig="threePt" dir="t"/>
            </a:scene3d>
          </p:grpSpPr>
          <p:pic>
            <p:nvPicPr>
              <p:cNvPr id="9" name="images.png" descr="images.png"/>
              <p:cNvPicPr>
                <a:picLocks noChangeAspect="1"/>
              </p:cNvPicPr>
              <p:nvPr/>
            </p:nvPicPr>
            <p:blipFill>
              <a:blip r:embed="rId3">
                <a:extLst/>
              </a:blip>
              <a:stretch>
                <a:fillRect/>
              </a:stretch>
            </p:blipFill>
            <p:spPr>
              <a:xfrm>
                <a:off x="0" y="0"/>
                <a:ext cx="7508106" cy="636958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0" name="Rectangle"/>
              <p:cNvSpPr/>
              <p:nvPr/>
            </p:nvSpPr>
            <p:spPr>
              <a:xfrm>
                <a:off x="2893302" y="211362"/>
                <a:ext cx="4563840" cy="6885971"/>
              </a:xfrm>
              <a:prstGeom prst="rect">
                <a:avLst/>
              </a:prstGeom>
              <a:solidFill>
                <a:srgbClr val="F6F6F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 algn="ctr" defTabSz="825500" hangingPunct="0">
                  <a:defRPr sz="3200">
                    <a:solidFill>
                      <a:srgbClr val="FFFFFF"/>
                    </a:solidFill>
                    <a:latin typeface="Helvetica Neue Medium"/>
                    <a:ea typeface="Helvetica Neue Medium"/>
                    <a:cs typeface="Helvetica Neue Medium"/>
                    <a:sym typeface="Helvetica Neue Medium"/>
                  </a:defRPr>
                </a:pPr>
                <a:endParaRPr sz="3200" kern="0" dirty="0">
                  <a:solidFill>
                    <a:srgbClr val="FFFFFF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endParaRPr>
              </a:p>
            </p:txBody>
          </p:sp>
        </p:grpSp>
        <p:pic>
          <p:nvPicPr>
            <p:cNvPr id="11" name="Picture5.png" descr="Picture5.png"/>
            <p:cNvPicPr>
              <a:picLocks noChangeAspect="1"/>
            </p:cNvPicPr>
            <p:nvPr/>
          </p:nvPicPr>
          <p:blipFill>
            <a:blip r:embed="rId4">
              <a:extLst/>
            </a:blip>
            <a:stretch>
              <a:fillRect/>
            </a:stretch>
          </p:blipFill>
          <p:spPr>
            <a:xfrm>
              <a:off x="3352800" y="4278397"/>
              <a:ext cx="685800" cy="522203"/>
            </a:xfrm>
            <a:prstGeom prst="rect">
              <a:avLst/>
            </a:prstGeom>
            <a:ln w="12700">
              <a:miter lim="400000"/>
            </a:ln>
            <a:scene3d>
              <a:camera prst="isometricRightUp"/>
              <a:lightRig rig="threePt" dir="t"/>
            </a:scene3d>
          </p:spPr>
        </p:pic>
      </p:grpSp>
      <p:sp>
        <p:nvSpPr>
          <p:cNvPr id="12" name="Quote Bubble"/>
          <p:cNvSpPr/>
          <p:nvPr/>
        </p:nvSpPr>
        <p:spPr>
          <a:xfrm>
            <a:off x="3242921" y="838200"/>
            <a:ext cx="2014879" cy="838732"/>
          </a:xfrm>
          <a:prstGeom prst="wedgeEllipseCallout">
            <a:avLst>
              <a:gd name="adj1" fmla="val -49709"/>
              <a:gd name="adj2" fmla="val 62714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 hangingPunct="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3200" kern="0">
              <a:solidFill>
                <a:srgbClr val="FFFFFF"/>
              </a:solidFill>
              <a:latin typeface="Helvetica Neue Medium"/>
              <a:ea typeface="Helvetica Neue Medium"/>
              <a:cs typeface="Helvetica Neue Medium"/>
              <a:sym typeface="Helvetica Neue Medium"/>
            </a:endParaRPr>
          </a:p>
        </p:txBody>
      </p:sp>
      <p:sp>
        <p:nvSpPr>
          <p:cNvPr id="13" name="Well… it all started back in 1866…."/>
          <p:cNvSpPr txBox="1"/>
          <p:nvPr/>
        </p:nvSpPr>
        <p:spPr>
          <a:xfrm>
            <a:off x="3429000" y="1129843"/>
            <a:ext cx="1710079" cy="3180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/>
            <a:endParaRPr sz="1400" kern="0" dirty="0">
              <a:latin typeface="Helvetica Neue"/>
              <a:sym typeface="Helvetica Neue"/>
            </a:endParaRPr>
          </a:p>
        </p:txBody>
      </p:sp>
      <p:pic>
        <p:nvPicPr>
          <p:cNvPr id="1026" name="Picture 2" descr="C:\Users\zuzu\Desktop\Picture1.png"/>
          <p:cNvPicPr>
            <a:picLocks noChangeAspect="1" noChangeArrowheads="1"/>
          </p:cNvPicPr>
          <p:nvPr/>
        </p:nvPicPr>
        <p:blipFill>
          <a:blip r:embed="rId5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244" y="223088"/>
            <a:ext cx="2060575" cy="2367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/>
          <p:cNvSpPr txBox="1"/>
          <p:nvPr/>
        </p:nvSpPr>
        <p:spPr>
          <a:xfrm>
            <a:off x="4264537" y="2606749"/>
            <a:ext cx="428404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Education </a:t>
            </a:r>
            <a:r>
              <a:rPr lang="en-US" dirty="0"/>
              <a:t>and Awareness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Monuments, Statues and Dedications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Individual Medals of Honor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/>
              <a:t>Buffalo Soldiers Congressional Gold Medal Act of </a:t>
            </a:r>
            <a:r>
              <a:rPr lang="en-US" dirty="0" smtClean="0"/>
              <a:t>2020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People like those of </a:t>
            </a:r>
            <a:r>
              <a:rPr lang="en-US" dirty="0" smtClean="0"/>
              <a:t>the </a:t>
            </a:r>
            <a:r>
              <a:rPr lang="en-US" dirty="0" smtClean="0"/>
              <a:t>Buffalo Soldiers Motorcycle Club who proudly take their nickname and honor their legacy</a:t>
            </a:r>
            <a:endParaRPr lang="en-US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dirty="0" smtClean="0"/>
              <a:t>And now… through </a:t>
            </a:r>
            <a:r>
              <a:rPr lang="en-US" dirty="0"/>
              <a:t>p</a:t>
            </a:r>
            <a:r>
              <a:rPr lang="en-US" dirty="0" smtClean="0"/>
              <a:t>eople like </a:t>
            </a:r>
            <a:r>
              <a:rPr lang="en-US" dirty="0"/>
              <a:t>y</a:t>
            </a:r>
            <a:r>
              <a:rPr lang="en-US" dirty="0" smtClean="0"/>
              <a:t>ou</a:t>
            </a:r>
          </a:p>
        </p:txBody>
      </p:sp>
      <p:sp>
        <p:nvSpPr>
          <p:cNvPr id="16" name="Hey Mister, “What’s a Buffalo Soldier?”"/>
          <p:cNvSpPr txBox="1"/>
          <p:nvPr/>
        </p:nvSpPr>
        <p:spPr>
          <a:xfrm>
            <a:off x="3352800" y="1024427"/>
            <a:ext cx="1828800" cy="6519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>
              <a:defRPr sz="2000" i="1">
                <a:solidFill>
                  <a:srgbClr val="000000"/>
                </a:solidFill>
              </a:defRPr>
            </a:lvl1pPr>
          </a:lstStyle>
          <a:p>
            <a:pPr algn="ctr" defTabSz="2438338" hangingPunct="0">
              <a:lnSpc>
                <a:spcPct val="85000"/>
              </a:lnSpc>
            </a:pPr>
            <a:r>
              <a:rPr lang="en-US" sz="1400" kern="0" dirty="0" smtClean="0">
                <a:latin typeface="Helvetica Neue"/>
                <a:sym typeface="Helvetica Neue"/>
              </a:rPr>
              <a:t>Through many efforts to preserve their history</a:t>
            </a:r>
            <a:endParaRPr sz="1400" kern="0" dirty="0">
              <a:latin typeface="Helvetica Neue"/>
              <a:sym typeface="Helvetica Neue"/>
            </a:endParaRPr>
          </a:p>
        </p:txBody>
      </p:sp>
      <p:pic>
        <p:nvPicPr>
          <p:cNvPr id="18" name="Picture 2" descr="C:\Users\zuzu\Desktop\Buffalo Soldiers\images\download.jp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3323" y="5410200"/>
            <a:ext cx="978040" cy="1004714"/>
          </a:xfrm>
          <a:prstGeom prst="rect">
            <a:avLst/>
          </a:prstGeom>
          <a:noFill/>
          <a:effectLst>
            <a:softEdge rad="63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C:\Users\zuzu\Desktop\Buffalo Soldiers\images\honor2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480" y="1741034"/>
            <a:ext cx="1840320" cy="678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Buffalo Soldiers History Brief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656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40037</TotalTime>
  <Words>390</Words>
  <Application>Microsoft Office PowerPoint</Application>
  <PresentationFormat>On-screen Show (4:3)</PresentationFormat>
  <Paragraphs>76</Paragraphs>
  <Slides>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The 9th and 10th Calvary Buffalo Soldiers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zuzu</dc:creator>
  <cp:lastModifiedBy>Tim Hanis</cp:lastModifiedBy>
  <cp:revision>45</cp:revision>
  <dcterms:created xsi:type="dcterms:W3CDTF">2006-08-16T00:00:00Z</dcterms:created>
  <dcterms:modified xsi:type="dcterms:W3CDTF">2021-08-28T19:41:42Z</dcterms:modified>
</cp:coreProperties>
</file>