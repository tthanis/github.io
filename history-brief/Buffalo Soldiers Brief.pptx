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65" r:id="rId2"/>
    <p:sldId id="261" r:id="rId3"/>
    <p:sldId id="266" r:id="rId4"/>
    <p:sldId id="267" r:id="rId5"/>
    <p:sldId id="270" r:id="rId6"/>
    <p:sldId id="268" r:id="rId7"/>
    <p:sldId id="269" r:id="rId8"/>
    <p:sldId id="27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96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31338-088F-45C5-9E26-33E9CE708819}" type="datetimeFigureOut">
              <a:rPr lang="en-US" smtClean="0"/>
              <a:t>11/2/2021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556F2-C1E8-42C0-B9AD-6E5DB1A17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59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556F2-C1E8-42C0-B9AD-6E5DB1A177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91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437A5-6AB3-45F9-9204-FCE4DEE24287}" type="datetime1">
              <a:rPr lang="en-US" smtClean="0"/>
              <a:t>11/2/2021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22A4-C835-4D36-8F62-6CAB579A367C}" type="datetime1">
              <a:rPr lang="en-US" smtClean="0"/>
              <a:t>11/2/2021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D463-D710-4444-86A6-C87A48C3C7E8}" type="datetime1">
              <a:rPr lang="en-US" smtClean="0"/>
              <a:t>11/2/2021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D910D-592E-4DC2-AE87-3505C7F51594}" type="datetime1">
              <a:rPr lang="en-US" smtClean="0"/>
              <a:t>11/2/2021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A7C22-B319-412B-9B7E-79B021FE5AF5}" type="datetime1">
              <a:rPr lang="en-US" smtClean="0"/>
              <a:t>11/2/2021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FA14-C6A0-4AB4-A5F0-CD8D2177F1D0}" type="datetime1">
              <a:rPr lang="en-US" smtClean="0"/>
              <a:t>11/2/2021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24CA-06D1-4926-9F55-5BC536647AB4}" type="datetime1">
              <a:rPr lang="en-US" smtClean="0"/>
              <a:t>11/2/2021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7106-37D1-44C8-A9DC-4A722FE61CA6}" type="datetime1">
              <a:rPr lang="en-US" smtClean="0"/>
              <a:t>11/2/2021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F8D4-3BE8-483B-A815-5F1B54BAF003}" type="datetime1">
              <a:rPr lang="en-US" smtClean="0"/>
              <a:t>11/2/2021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2BB24-666B-4A52-933A-904964341520}" type="datetime1">
              <a:rPr lang="en-US" smtClean="0"/>
              <a:t>11/2/2021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C720A-73B0-4024-A60E-B471A0CB9730}" type="datetime1">
              <a:rPr lang="en-US" smtClean="0"/>
              <a:t>11/2/2021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484D1-0697-4D7B-9EC6-DCF1A390A541}" type="datetime1">
              <a:rPr lang="en-US" smtClean="0"/>
              <a:t>11/2/2021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Buffalo Soldiers History Brief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44775"/>
            <a:ext cx="7772400" cy="1470025"/>
          </a:xfrm>
        </p:spPr>
        <p:txBody>
          <a:bodyPr/>
          <a:lstStyle/>
          <a:p>
            <a:r>
              <a:rPr lang="en-US" dirty="0" smtClean="0"/>
              <a:t>The 9</a:t>
            </a:r>
            <a:r>
              <a:rPr lang="en-US" baseline="30000" dirty="0" smtClean="0"/>
              <a:t>th</a:t>
            </a:r>
            <a:r>
              <a:rPr lang="en-US" dirty="0" smtClean="0"/>
              <a:t> and 10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 smtClean="0"/>
              <a:t>Cavalry Buffalo </a:t>
            </a:r>
            <a:r>
              <a:rPr lang="en-US" dirty="0" smtClean="0"/>
              <a:t>Soldiers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43400"/>
            <a:ext cx="6400800" cy="685800"/>
          </a:xfrm>
        </p:spPr>
        <p:txBody>
          <a:bodyPr/>
          <a:lstStyle/>
          <a:p>
            <a:r>
              <a:rPr lang="en-US" dirty="0" smtClean="0"/>
              <a:t>A Five Minute History Brief</a:t>
            </a:r>
            <a:endParaRPr lang="en-US" dirty="0"/>
          </a:p>
        </p:txBody>
      </p:sp>
      <p:pic>
        <p:nvPicPr>
          <p:cNvPr id="1026" name="Picture 2" descr="C:\Users\zuzu\Desktop\Buffalo Soldiers\images\downloa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18214"/>
            <a:ext cx="1606018" cy="1649819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90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zuzu\Desktop\Buffalo Soldiers\images\ki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28740"/>
            <a:ext cx="133350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Quote Bubble"/>
          <p:cNvSpPr/>
          <p:nvPr/>
        </p:nvSpPr>
        <p:spPr>
          <a:xfrm>
            <a:off x="1255949" y="304994"/>
            <a:ext cx="1944451" cy="800615"/>
          </a:xfrm>
          <a:prstGeom prst="wedgeEllipseCallout">
            <a:avLst>
              <a:gd name="adj1" fmla="val -49709"/>
              <a:gd name="adj2" fmla="val 62714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Hey Mister, “What’s a Buffalo Soldier?”"/>
          <p:cNvSpPr txBox="1"/>
          <p:nvPr/>
        </p:nvSpPr>
        <p:spPr>
          <a:xfrm>
            <a:off x="1371600" y="489710"/>
            <a:ext cx="1752600" cy="46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</a:defRPr>
            </a:lvl1pPr>
          </a:lstStyle>
          <a:p>
            <a:pPr algn="ctr" defTabSz="2438338" hangingPunct="0">
              <a:lnSpc>
                <a:spcPct val="85000"/>
              </a:lnSpc>
            </a:pPr>
            <a:r>
              <a:rPr sz="1400" kern="0" dirty="0">
                <a:latin typeface="Helvetica Neue"/>
                <a:sym typeface="Helvetica Neue"/>
              </a:rPr>
              <a:t>Hey Mister, “What’s a </a:t>
            </a:r>
            <a:r>
              <a:rPr sz="1400" kern="0" dirty="0" smtClean="0">
                <a:latin typeface="Helvetica Neue"/>
                <a:sym typeface="Helvetica Neue"/>
              </a:rPr>
              <a:t>Buffalo </a:t>
            </a:r>
            <a:r>
              <a:rPr sz="1400" kern="0" dirty="0">
                <a:latin typeface="Helvetica Neue"/>
                <a:sym typeface="Helvetica Neue"/>
              </a:rPr>
              <a:t>Soldier?”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633879" y="457200"/>
            <a:ext cx="3928721" cy="3713779"/>
            <a:chOff x="2643625" y="2667000"/>
            <a:chExt cx="3928721" cy="3713779"/>
          </a:xfrm>
        </p:grpSpPr>
        <p:grpSp>
          <p:nvGrpSpPr>
            <p:cNvPr id="8" name="Group"/>
            <p:cNvGrpSpPr/>
            <p:nvPr/>
          </p:nvGrpSpPr>
          <p:grpSpPr>
            <a:xfrm>
              <a:off x="2643625" y="2667000"/>
              <a:ext cx="3928721" cy="3713779"/>
              <a:chOff x="0" y="0"/>
              <a:chExt cx="7508105" cy="7097332"/>
            </a:xfrm>
            <a:scene3d>
              <a:camera prst="isometricRightUp"/>
              <a:lightRig rig="threePt" dir="t"/>
            </a:scene3d>
          </p:grpSpPr>
          <p:pic>
            <p:nvPicPr>
              <p:cNvPr id="9" name="images.png" descr="images.png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0" y="0"/>
                <a:ext cx="7508106" cy="636958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0" name="Rectangle"/>
              <p:cNvSpPr/>
              <p:nvPr/>
            </p:nvSpPr>
            <p:spPr>
              <a:xfrm>
                <a:off x="2893302" y="211362"/>
                <a:ext cx="4563840" cy="6885971"/>
              </a:xfrm>
              <a:prstGeom prst="rect">
                <a:avLst/>
              </a:prstGeom>
              <a:solidFill>
                <a:srgbClr val="F6F6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 hangingPunct="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3200" kern="0" dirty="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p:grpSp>
        <p:pic>
          <p:nvPicPr>
            <p:cNvPr id="11" name="Picture5.png" descr="Picture5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352800" y="4278397"/>
              <a:ext cx="685800" cy="522203"/>
            </a:xfrm>
            <a:prstGeom prst="rect">
              <a:avLst/>
            </a:prstGeom>
            <a:ln w="12700">
              <a:miter lim="400000"/>
            </a:ln>
            <a:scene3d>
              <a:camera prst="isometricRightUp"/>
              <a:lightRig rig="threePt" dir="t"/>
            </a:scene3d>
          </p:spPr>
        </p:pic>
      </p:grpSp>
      <p:sp>
        <p:nvSpPr>
          <p:cNvPr id="12" name="Quote Bubble"/>
          <p:cNvSpPr/>
          <p:nvPr/>
        </p:nvSpPr>
        <p:spPr>
          <a:xfrm>
            <a:off x="3242921" y="838200"/>
            <a:ext cx="2014879" cy="838732"/>
          </a:xfrm>
          <a:prstGeom prst="wedgeEllipseCallout">
            <a:avLst>
              <a:gd name="adj1" fmla="val -49709"/>
              <a:gd name="adj2" fmla="val 62714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Well… it all started back in 1866…."/>
          <p:cNvSpPr txBox="1"/>
          <p:nvPr/>
        </p:nvSpPr>
        <p:spPr>
          <a:xfrm>
            <a:off x="3395321" y="1053198"/>
            <a:ext cx="1710079" cy="46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</a:defRPr>
            </a:lvl1pPr>
          </a:lstStyle>
          <a:p>
            <a:pPr algn="ctr" defTabSz="2438338" hangingPunct="0">
              <a:lnSpc>
                <a:spcPct val="85000"/>
              </a:lnSpc>
            </a:pPr>
            <a:r>
              <a:rPr sz="1400" kern="0" dirty="0">
                <a:latin typeface="Helvetica Neue"/>
                <a:sym typeface="Helvetica Neue"/>
              </a:rPr>
              <a:t>Well… it all started back in 1866….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800" y="2878317"/>
            <a:ext cx="4648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Army Reorganization Act of </a:t>
            </a:r>
            <a:r>
              <a:rPr lang="en-US" dirty="0" smtClean="0"/>
              <a:t>1866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9</a:t>
            </a:r>
            <a:r>
              <a:rPr lang="en-US" baseline="30000" dirty="0" smtClean="0"/>
              <a:t>th</a:t>
            </a:r>
            <a:r>
              <a:rPr lang="en-US" dirty="0" smtClean="0"/>
              <a:t> and 10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 smtClean="0"/>
              <a:t>Cavalry and </a:t>
            </a:r>
            <a:r>
              <a:rPr lang="en-US" dirty="0" smtClean="0"/>
              <a:t>the 24</a:t>
            </a:r>
            <a:r>
              <a:rPr lang="en-US" baseline="30000" dirty="0" smtClean="0"/>
              <a:t>th</a:t>
            </a:r>
            <a:r>
              <a:rPr lang="en-US" dirty="0" smtClean="0"/>
              <a:t> and 25</a:t>
            </a:r>
            <a:r>
              <a:rPr lang="en-US" baseline="30000" dirty="0" smtClean="0"/>
              <a:t>th</a:t>
            </a:r>
            <a:r>
              <a:rPr lang="en-US" dirty="0" smtClean="0"/>
              <a:t> Infantry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Black soldier regiments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Name given to 10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 smtClean="0"/>
              <a:t>Cavalry soldiers </a:t>
            </a:r>
            <a:r>
              <a:rPr lang="en-US" dirty="0" smtClean="0"/>
              <a:t>by native Americans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Name adopted by other regiments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Regiments “deactivated” starting in 1944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People still identify with/as Buffalo Soldiers after 1944</a:t>
            </a:r>
            <a:endParaRPr lang="en-US" dirty="0"/>
          </a:p>
        </p:txBody>
      </p:sp>
      <p:pic>
        <p:nvPicPr>
          <p:cNvPr id="18" name="Picture 4" descr="C:\Users\zuzu\Desktop\Buffalo Soldiers\Screenshot 2021-05-30 22155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5381434"/>
            <a:ext cx="371561" cy="1020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" descr="C:\Users\zuzu\Desktop\Buffalo Soldiers\Screenshot 2021-05-30 221438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221" y="5677754"/>
            <a:ext cx="333919" cy="85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zuzu\Desktop\Buffalo Soldiers\images\horse2.png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344" y="1245161"/>
            <a:ext cx="1611312" cy="1500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7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Quote Bubble"/>
          <p:cNvSpPr/>
          <p:nvPr/>
        </p:nvSpPr>
        <p:spPr>
          <a:xfrm>
            <a:off x="1255949" y="304994"/>
            <a:ext cx="1944451" cy="800615"/>
          </a:xfrm>
          <a:prstGeom prst="wedgeEllipseCallout">
            <a:avLst>
              <a:gd name="adj1" fmla="val -49709"/>
              <a:gd name="adj2" fmla="val 62714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Hey Mister, “What’s a Buffalo Soldier?”"/>
          <p:cNvSpPr txBox="1"/>
          <p:nvPr/>
        </p:nvSpPr>
        <p:spPr>
          <a:xfrm>
            <a:off x="1371600" y="489710"/>
            <a:ext cx="1752600" cy="46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</a:defRPr>
            </a:lvl1pPr>
          </a:lstStyle>
          <a:p>
            <a:pPr algn="ctr" defTabSz="2438338" hangingPunct="0">
              <a:lnSpc>
                <a:spcPct val="85000"/>
              </a:lnSpc>
            </a:pPr>
            <a:r>
              <a:rPr lang="en-US" sz="1400" kern="0" dirty="0" smtClean="0">
                <a:latin typeface="Helvetica Neue"/>
                <a:sym typeface="Helvetica Neue"/>
              </a:rPr>
              <a:t>So you aren’t </a:t>
            </a:r>
            <a:r>
              <a:rPr sz="1400" kern="0" dirty="0" smtClean="0">
                <a:latin typeface="Helvetica Neue"/>
                <a:sym typeface="Helvetica Neue"/>
              </a:rPr>
              <a:t>a</a:t>
            </a:r>
            <a:r>
              <a:rPr lang="en-US" sz="1400" kern="0" dirty="0" smtClean="0">
                <a:latin typeface="Helvetica Neue"/>
                <a:sym typeface="Helvetica Neue"/>
              </a:rPr>
              <a:t> real</a:t>
            </a:r>
            <a:r>
              <a:rPr sz="1400" kern="0" dirty="0" smtClean="0">
                <a:latin typeface="Helvetica Neue"/>
                <a:sym typeface="Helvetica Neue"/>
              </a:rPr>
              <a:t> Buffalo </a:t>
            </a:r>
            <a:r>
              <a:rPr sz="1400" kern="0" dirty="0">
                <a:latin typeface="Helvetica Neue"/>
                <a:sym typeface="Helvetica Neue"/>
              </a:rPr>
              <a:t>Soldier</a:t>
            </a:r>
            <a:r>
              <a:rPr sz="1400" kern="0" dirty="0" smtClean="0">
                <a:latin typeface="Helvetica Neue"/>
                <a:sym typeface="Helvetica Neue"/>
              </a:rPr>
              <a:t>?</a:t>
            </a:r>
            <a:endParaRPr sz="1400" kern="0" dirty="0">
              <a:latin typeface="Helvetica Neue"/>
              <a:sym typeface="Helvetica Neue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633879" y="457200"/>
            <a:ext cx="3928721" cy="3713779"/>
            <a:chOff x="2643625" y="2667000"/>
            <a:chExt cx="3928721" cy="3713779"/>
          </a:xfrm>
        </p:grpSpPr>
        <p:grpSp>
          <p:nvGrpSpPr>
            <p:cNvPr id="8" name="Group"/>
            <p:cNvGrpSpPr/>
            <p:nvPr/>
          </p:nvGrpSpPr>
          <p:grpSpPr>
            <a:xfrm>
              <a:off x="2643625" y="2667000"/>
              <a:ext cx="3928721" cy="3713779"/>
              <a:chOff x="0" y="0"/>
              <a:chExt cx="7508105" cy="7097332"/>
            </a:xfrm>
            <a:scene3d>
              <a:camera prst="isometricRightUp"/>
              <a:lightRig rig="threePt" dir="t"/>
            </a:scene3d>
          </p:grpSpPr>
          <p:pic>
            <p:nvPicPr>
              <p:cNvPr id="9" name="images.png" descr="images.pn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7508106" cy="636958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0" name="Rectangle"/>
              <p:cNvSpPr/>
              <p:nvPr/>
            </p:nvSpPr>
            <p:spPr>
              <a:xfrm>
                <a:off x="2893302" y="211362"/>
                <a:ext cx="4563840" cy="6885971"/>
              </a:xfrm>
              <a:prstGeom prst="rect">
                <a:avLst/>
              </a:prstGeom>
              <a:solidFill>
                <a:srgbClr val="F6F6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 hangingPunct="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3200" kern="0" dirty="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p:grpSp>
        <p:pic>
          <p:nvPicPr>
            <p:cNvPr id="11" name="Picture5.png" descr="Picture5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352800" y="4278397"/>
              <a:ext cx="685800" cy="522203"/>
            </a:xfrm>
            <a:prstGeom prst="rect">
              <a:avLst/>
            </a:prstGeom>
            <a:ln w="12700">
              <a:miter lim="400000"/>
            </a:ln>
            <a:scene3d>
              <a:camera prst="isometricRightUp"/>
              <a:lightRig rig="threePt" dir="t"/>
            </a:scene3d>
          </p:spPr>
        </p:pic>
      </p:grpSp>
      <p:sp>
        <p:nvSpPr>
          <p:cNvPr id="12" name="Quote Bubble"/>
          <p:cNvSpPr/>
          <p:nvPr/>
        </p:nvSpPr>
        <p:spPr>
          <a:xfrm>
            <a:off x="3242921" y="838200"/>
            <a:ext cx="2014879" cy="838732"/>
          </a:xfrm>
          <a:prstGeom prst="wedgeEllipseCallout">
            <a:avLst>
              <a:gd name="adj1" fmla="val -49709"/>
              <a:gd name="adj2" fmla="val 62714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Well… it all started back in 1866…."/>
          <p:cNvSpPr txBox="1"/>
          <p:nvPr/>
        </p:nvSpPr>
        <p:spPr>
          <a:xfrm>
            <a:off x="3395321" y="1128603"/>
            <a:ext cx="1710079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</a:defRPr>
            </a:lvl1pPr>
          </a:lstStyle>
          <a:p>
            <a:pPr algn="ctr" defTabSz="2438338" hangingPunct="0"/>
            <a:r>
              <a:rPr lang="en-US" sz="1400" kern="0" dirty="0" smtClean="0">
                <a:latin typeface="Helvetica Neue"/>
                <a:sym typeface="Helvetica Neue"/>
              </a:rPr>
              <a:t>Nope</a:t>
            </a:r>
            <a:r>
              <a:rPr sz="1400" kern="0" dirty="0" smtClean="0">
                <a:latin typeface="Helvetica Neue"/>
                <a:sym typeface="Helvetica Neue"/>
              </a:rPr>
              <a:t>…</a:t>
            </a:r>
            <a:endParaRPr sz="1400" kern="0" dirty="0">
              <a:latin typeface="Helvetica Neue"/>
              <a:sym typeface="Helvetica Neue"/>
            </a:endParaRPr>
          </a:p>
        </p:txBody>
      </p:sp>
      <p:pic>
        <p:nvPicPr>
          <p:cNvPr id="1026" name="Picture 2" descr="C:\Users\zuzu\Desktop\Picture1.pn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44" y="223088"/>
            <a:ext cx="2060575" cy="236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3733800" y="2878317"/>
            <a:ext cx="4648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All “real” Buffalo Soldiers are dead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All us of that wear something that says “Buffalo Soldiers” are paying respect and honor to the "real Buffalo Soldiers” that served in those units</a:t>
            </a:r>
          </a:p>
        </p:txBody>
      </p:sp>
      <p:pic>
        <p:nvPicPr>
          <p:cNvPr id="2051" name="Picture 3" descr="C:\Users\zuzu\Desktop\Buffalo Soldiers\images\rip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581" y="1905000"/>
            <a:ext cx="809626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zuzu\Desktop\Buffalo Soldiers\images\images11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680612"/>
            <a:ext cx="1271588" cy="1335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zuzu\Desktop\Buffalo Soldiers\images\honor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211" y="4376181"/>
            <a:ext cx="1073183" cy="170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:\Users\zuzu\Desktop\Buffalo Soldiers\images\Screenshot 2021-05-31 202100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845" y="4971493"/>
            <a:ext cx="1343025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11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Quote Bubble"/>
          <p:cNvSpPr/>
          <p:nvPr/>
        </p:nvSpPr>
        <p:spPr>
          <a:xfrm>
            <a:off x="1255949" y="304994"/>
            <a:ext cx="1944451" cy="800615"/>
          </a:xfrm>
          <a:prstGeom prst="wedgeEllipseCallout">
            <a:avLst>
              <a:gd name="adj1" fmla="val -49709"/>
              <a:gd name="adj2" fmla="val 62714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Hey Mister, “What’s a Buffalo Soldier?”"/>
          <p:cNvSpPr txBox="1"/>
          <p:nvPr/>
        </p:nvSpPr>
        <p:spPr>
          <a:xfrm>
            <a:off x="1371600" y="565115"/>
            <a:ext cx="1752600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</a:defRPr>
            </a:lvl1pPr>
          </a:lstStyle>
          <a:p>
            <a:pPr algn="ctr" defTabSz="2438338" hangingPunct="0"/>
            <a:r>
              <a:rPr lang="en-US" sz="1400" kern="0" dirty="0" smtClean="0">
                <a:latin typeface="Helvetica Neue"/>
                <a:sym typeface="Helvetica Neue"/>
              </a:rPr>
              <a:t>Why</a:t>
            </a:r>
            <a:r>
              <a:rPr sz="1400" kern="0" dirty="0" smtClean="0">
                <a:latin typeface="Helvetica Neue"/>
                <a:sym typeface="Helvetica Neue"/>
              </a:rPr>
              <a:t>?</a:t>
            </a:r>
            <a:endParaRPr sz="1400" kern="0" dirty="0">
              <a:latin typeface="Helvetica Neue"/>
              <a:sym typeface="Helvetica Neue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633879" y="457200"/>
            <a:ext cx="3928721" cy="3713779"/>
            <a:chOff x="2643625" y="2667000"/>
            <a:chExt cx="3928721" cy="3713779"/>
          </a:xfrm>
        </p:grpSpPr>
        <p:grpSp>
          <p:nvGrpSpPr>
            <p:cNvPr id="8" name="Group"/>
            <p:cNvGrpSpPr/>
            <p:nvPr/>
          </p:nvGrpSpPr>
          <p:grpSpPr>
            <a:xfrm>
              <a:off x="2643625" y="2667000"/>
              <a:ext cx="3928721" cy="3713779"/>
              <a:chOff x="0" y="0"/>
              <a:chExt cx="7508105" cy="7097332"/>
            </a:xfrm>
            <a:scene3d>
              <a:camera prst="isometricRightUp"/>
              <a:lightRig rig="threePt" dir="t"/>
            </a:scene3d>
          </p:grpSpPr>
          <p:pic>
            <p:nvPicPr>
              <p:cNvPr id="9" name="images.png" descr="images.pn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7508106" cy="636958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0" name="Rectangle"/>
              <p:cNvSpPr/>
              <p:nvPr/>
            </p:nvSpPr>
            <p:spPr>
              <a:xfrm>
                <a:off x="2893302" y="211362"/>
                <a:ext cx="4563840" cy="6885971"/>
              </a:xfrm>
              <a:prstGeom prst="rect">
                <a:avLst/>
              </a:prstGeom>
              <a:solidFill>
                <a:srgbClr val="F6F6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 hangingPunct="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3200" kern="0" dirty="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p:grpSp>
        <p:pic>
          <p:nvPicPr>
            <p:cNvPr id="11" name="Picture5.png" descr="Picture5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352800" y="4278397"/>
              <a:ext cx="685800" cy="522203"/>
            </a:xfrm>
            <a:prstGeom prst="rect">
              <a:avLst/>
            </a:prstGeom>
            <a:ln w="12700">
              <a:miter lim="400000"/>
            </a:ln>
            <a:scene3d>
              <a:camera prst="isometricRightUp"/>
              <a:lightRig rig="threePt" dir="t"/>
            </a:scene3d>
          </p:spPr>
        </p:pic>
      </p:grpSp>
      <p:sp>
        <p:nvSpPr>
          <p:cNvPr id="12" name="Quote Bubble"/>
          <p:cNvSpPr/>
          <p:nvPr/>
        </p:nvSpPr>
        <p:spPr>
          <a:xfrm>
            <a:off x="3242921" y="838200"/>
            <a:ext cx="2014879" cy="838732"/>
          </a:xfrm>
          <a:prstGeom prst="wedgeEllipseCallout">
            <a:avLst>
              <a:gd name="adj1" fmla="val -49709"/>
              <a:gd name="adj2" fmla="val 62714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Well… it all started back in 1866…."/>
          <p:cNvSpPr txBox="1"/>
          <p:nvPr/>
        </p:nvSpPr>
        <p:spPr>
          <a:xfrm>
            <a:off x="3395321" y="961635"/>
            <a:ext cx="1710079" cy="651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</a:defRPr>
            </a:lvl1pPr>
          </a:lstStyle>
          <a:p>
            <a:pPr algn="ctr" defTabSz="2438338" hangingPunct="0">
              <a:lnSpc>
                <a:spcPct val="85000"/>
              </a:lnSpc>
            </a:pPr>
            <a:r>
              <a:rPr lang="en-US" sz="1400" kern="0" dirty="0" smtClean="0">
                <a:latin typeface="Helvetica Neue"/>
                <a:sym typeface="Helvetica Neue"/>
              </a:rPr>
              <a:t>Because of what they did and what they endured</a:t>
            </a:r>
            <a:r>
              <a:rPr sz="1400" kern="0" dirty="0" smtClean="0">
                <a:latin typeface="Helvetica Neue"/>
                <a:sym typeface="Helvetica Neue"/>
              </a:rPr>
              <a:t>…</a:t>
            </a:r>
            <a:endParaRPr sz="1400" kern="0" dirty="0">
              <a:latin typeface="Helvetica Neue"/>
              <a:sym typeface="Helvetica Neue"/>
            </a:endParaRPr>
          </a:p>
        </p:txBody>
      </p:sp>
      <p:pic>
        <p:nvPicPr>
          <p:cNvPr id="1026" name="Picture 2" descr="C:\Users\zuzu\Desktop\Picture1.pn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44" y="223088"/>
            <a:ext cx="2060575" cy="236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3810000" y="3124200"/>
            <a:ext cx="2324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Racism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Inferior resources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Less pay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White officers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6324600" y="2636011"/>
            <a:ext cx="25668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Superior horsemanship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Proven soldiers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Fought with distinction in numerous campaigns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Professionalism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Low </a:t>
            </a:r>
            <a:r>
              <a:rPr lang="en-US" dirty="0" smtClean="0"/>
              <a:t>desertion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pic>
        <p:nvPicPr>
          <p:cNvPr id="3075" name="Picture 3" descr="C:\Users\zuzu\Desktop\Buffalo Soldiers\images\uphill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999" y="4724400"/>
            <a:ext cx="1212802" cy="116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C:\Users\zuzu\Desktop\Buffalo Soldiers\horse2.png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824" y="1257566"/>
            <a:ext cx="1168813" cy="1088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31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Quote Bubble"/>
          <p:cNvSpPr/>
          <p:nvPr/>
        </p:nvSpPr>
        <p:spPr>
          <a:xfrm>
            <a:off x="1255949" y="304994"/>
            <a:ext cx="1944451" cy="800615"/>
          </a:xfrm>
          <a:prstGeom prst="wedgeEllipseCallout">
            <a:avLst>
              <a:gd name="adj1" fmla="val -49709"/>
              <a:gd name="adj2" fmla="val 62714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Hey Mister, “What’s a Buffalo Soldier?”"/>
          <p:cNvSpPr txBox="1"/>
          <p:nvPr/>
        </p:nvSpPr>
        <p:spPr>
          <a:xfrm>
            <a:off x="1371600" y="565115"/>
            <a:ext cx="1752600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</a:defRPr>
            </a:lvl1pPr>
          </a:lstStyle>
          <a:p>
            <a:pPr algn="ctr" defTabSz="2438338" hangingPunct="0"/>
            <a:r>
              <a:rPr lang="en-US" sz="1400" kern="0" dirty="0" smtClean="0">
                <a:latin typeface="Helvetica Neue"/>
                <a:sym typeface="Helvetica Neue"/>
              </a:rPr>
              <a:t>What did they do?</a:t>
            </a:r>
            <a:endParaRPr sz="1400" kern="0" dirty="0">
              <a:latin typeface="Helvetica Neue"/>
              <a:sym typeface="Helvetica Neue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633879" y="457200"/>
            <a:ext cx="3928721" cy="3713779"/>
            <a:chOff x="2643625" y="2667000"/>
            <a:chExt cx="3928721" cy="3713779"/>
          </a:xfrm>
        </p:grpSpPr>
        <p:grpSp>
          <p:nvGrpSpPr>
            <p:cNvPr id="8" name="Group"/>
            <p:cNvGrpSpPr/>
            <p:nvPr/>
          </p:nvGrpSpPr>
          <p:grpSpPr>
            <a:xfrm>
              <a:off x="2643625" y="2667000"/>
              <a:ext cx="3928721" cy="3713779"/>
              <a:chOff x="0" y="0"/>
              <a:chExt cx="7508105" cy="7097332"/>
            </a:xfrm>
            <a:scene3d>
              <a:camera prst="isometricRightUp"/>
              <a:lightRig rig="threePt" dir="t"/>
            </a:scene3d>
          </p:grpSpPr>
          <p:pic>
            <p:nvPicPr>
              <p:cNvPr id="9" name="images.png" descr="images.pn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7508106" cy="636958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0" name="Rectangle"/>
              <p:cNvSpPr/>
              <p:nvPr/>
            </p:nvSpPr>
            <p:spPr>
              <a:xfrm>
                <a:off x="2893302" y="211362"/>
                <a:ext cx="4563840" cy="6885971"/>
              </a:xfrm>
              <a:prstGeom prst="rect">
                <a:avLst/>
              </a:prstGeom>
              <a:solidFill>
                <a:srgbClr val="F6F6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 hangingPunct="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3200" kern="0" dirty="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p:grpSp>
        <p:pic>
          <p:nvPicPr>
            <p:cNvPr id="11" name="Picture5.png" descr="Picture5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352800" y="4278397"/>
              <a:ext cx="685800" cy="522203"/>
            </a:xfrm>
            <a:prstGeom prst="rect">
              <a:avLst/>
            </a:prstGeom>
            <a:ln w="12700">
              <a:miter lim="400000"/>
            </a:ln>
            <a:scene3d>
              <a:camera prst="isometricRightUp"/>
              <a:lightRig rig="threePt" dir="t"/>
            </a:scene3d>
          </p:spPr>
        </p:pic>
      </p:grpSp>
      <p:sp>
        <p:nvSpPr>
          <p:cNvPr id="12" name="Quote Bubble"/>
          <p:cNvSpPr/>
          <p:nvPr/>
        </p:nvSpPr>
        <p:spPr>
          <a:xfrm>
            <a:off x="3242921" y="838200"/>
            <a:ext cx="2014879" cy="838732"/>
          </a:xfrm>
          <a:prstGeom prst="wedgeEllipseCallout">
            <a:avLst>
              <a:gd name="adj1" fmla="val -49709"/>
              <a:gd name="adj2" fmla="val 62714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Well… it all started back in 1866…."/>
          <p:cNvSpPr txBox="1"/>
          <p:nvPr/>
        </p:nvSpPr>
        <p:spPr>
          <a:xfrm>
            <a:off x="3429000" y="948227"/>
            <a:ext cx="1710079" cy="651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</a:defRPr>
            </a:lvl1pPr>
          </a:lstStyle>
          <a:p>
            <a:pPr algn="ctr" defTabSz="2438338" hangingPunct="0">
              <a:lnSpc>
                <a:spcPct val="85000"/>
              </a:lnSpc>
            </a:pPr>
            <a:r>
              <a:rPr lang="en-US" sz="1400" kern="0" dirty="0" smtClean="0">
                <a:latin typeface="Helvetica Neue"/>
                <a:sym typeface="Helvetica Neue"/>
              </a:rPr>
              <a:t>Opened the American West and fought in wars</a:t>
            </a:r>
            <a:endParaRPr sz="1400" kern="0" dirty="0">
              <a:latin typeface="Helvetica Neue"/>
              <a:sym typeface="Helvetica Neue"/>
            </a:endParaRPr>
          </a:p>
        </p:txBody>
      </p:sp>
      <p:pic>
        <p:nvPicPr>
          <p:cNvPr id="1026" name="Picture 2" descr="C:\Users\zuzu\Desktop\Picture1.pn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44" y="223088"/>
            <a:ext cx="2060575" cy="236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4038600" y="2743200"/>
            <a:ext cx="4495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Secured roads and bridges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Protected railroads and mail routes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Protected settlers  during westward expansion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Developed and protected National Parks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Taught riding to cadets at West Point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Fought in many wars and military campaigns</a:t>
            </a:r>
          </a:p>
        </p:txBody>
      </p:sp>
      <p:pic>
        <p:nvPicPr>
          <p:cNvPr id="2050" name="Picture 2" descr="C:\Users\zuzu\Desktop\238-2383061_silhouette-clipart-train-thomas-the-train-silhouette.png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006" y="1578492"/>
            <a:ext cx="2063597" cy="980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7040" y="5220019"/>
            <a:ext cx="2008893" cy="934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" descr="C:\Users\zuzu\Desktop\Buffalo Soldiers\images\images-3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177" y="4857306"/>
            <a:ext cx="1594426" cy="1659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3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Quote Bubble"/>
          <p:cNvSpPr/>
          <p:nvPr/>
        </p:nvSpPr>
        <p:spPr>
          <a:xfrm>
            <a:off x="1255949" y="304994"/>
            <a:ext cx="1944451" cy="800615"/>
          </a:xfrm>
          <a:prstGeom prst="wedgeEllipseCallout">
            <a:avLst>
              <a:gd name="adj1" fmla="val -49709"/>
              <a:gd name="adj2" fmla="val 62714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Hey Mister, “What’s a Buffalo Soldier?”"/>
          <p:cNvSpPr txBox="1"/>
          <p:nvPr/>
        </p:nvSpPr>
        <p:spPr>
          <a:xfrm>
            <a:off x="1371600" y="489710"/>
            <a:ext cx="1752600" cy="46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</a:defRPr>
            </a:lvl1pPr>
          </a:lstStyle>
          <a:p>
            <a:pPr algn="ctr" defTabSz="2438338" hangingPunct="0">
              <a:lnSpc>
                <a:spcPct val="85000"/>
              </a:lnSpc>
            </a:pPr>
            <a:r>
              <a:rPr lang="en-US" sz="1400" kern="0" dirty="0" smtClean="0">
                <a:latin typeface="Helvetica Neue"/>
                <a:sym typeface="Helvetica Neue"/>
              </a:rPr>
              <a:t>Where did they fight?</a:t>
            </a:r>
            <a:endParaRPr sz="1400" kern="0" dirty="0">
              <a:latin typeface="Helvetica Neue"/>
              <a:sym typeface="Helvetica Neue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633879" y="457200"/>
            <a:ext cx="3928721" cy="3713779"/>
            <a:chOff x="2643625" y="2667000"/>
            <a:chExt cx="3928721" cy="3713779"/>
          </a:xfrm>
        </p:grpSpPr>
        <p:grpSp>
          <p:nvGrpSpPr>
            <p:cNvPr id="8" name="Group"/>
            <p:cNvGrpSpPr/>
            <p:nvPr/>
          </p:nvGrpSpPr>
          <p:grpSpPr>
            <a:xfrm>
              <a:off x="2643625" y="2667000"/>
              <a:ext cx="3928721" cy="3713779"/>
              <a:chOff x="0" y="0"/>
              <a:chExt cx="7508105" cy="7097332"/>
            </a:xfrm>
            <a:scene3d>
              <a:camera prst="isometricRightUp"/>
              <a:lightRig rig="threePt" dir="t"/>
            </a:scene3d>
          </p:grpSpPr>
          <p:pic>
            <p:nvPicPr>
              <p:cNvPr id="9" name="images.png" descr="images.pn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7508106" cy="636958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0" name="Rectangle"/>
              <p:cNvSpPr/>
              <p:nvPr/>
            </p:nvSpPr>
            <p:spPr>
              <a:xfrm>
                <a:off x="2893302" y="211362"/>
                <a:ext cx="4563840" cy="6885971"/>
              </a:xfrm>
              <a:prstGeom prst="rect">
                <a:avLst/>
              </a:prstGeom>
              <a:solidFill>
                <a:srgbClr val="F6F6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 hangingPunct="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3200" kern="0" dirty="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p:grpSp>
        <p:pic>
          <p:nvPicPr>
            <p:cNvPr id="11" name="Picture5.png" descr="Picture5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352800" y="4278397"/>
              <a:ext cx="685800" cy="522203"/>
            </a:xfrm>
            <a:prstGeom prst="rect">
              <a:avLst/>
            </a:prstGeom>
            <a:ln w="12700">
              <a:miter lim="400000"/>
            </a:ln>
            <a:scene3d>
              <a:camera prst="isometricRightUp"/>
              <a:lightRig rig="threePt" dir="t"/>
            </a:scene3d>
          </p:spPr>
        </p:pic>
      </p:grpSp>
      <p:sp>
        <p:nvSpPr>
          <p:cNvPr id="12" name="Quote Bubble"/>
          <p:cNvSpPr/>
          <p:nvPr/>
        </p:nvSpPr>
        <p:spPr>
          <a:xfrm>
            <a:off x="3242921" y="838200"/>
            <a:ext cx="2014879" cy="838732"/>
          </a:xfrm>
          <a:prstGeom prst="wedgeEllipseCallout">
            <a:avLst>
              <a:gd name="adj1" fmla="val -49709"/>
              <a:gd name="adj2" fmla="val 62714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Well… it all started back in 1866…."/>
          <p:cNvSpPr txBox="1"/>
          <p:nvPr/>
        </p:nvSpPr>
        <p:spPr>
          <a:xfrm>
            <a:off x="3429000" y="962875"/>
            <a:ext cx="1710079" cy="651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</a:defRPr>
            </a:lvl1pPr>
          </a:lstStyle>
          <a:p>
            <a:pPr algn="ctr" defTabSz="2438338" hangingPunct="0">
              <a:lnSpc>
                <a:spcPct val="85000"/>
              </a:lnSpc>
            </a:pPr>
            <a:r>
              <a:rPr lang="en-US" sz="1400" kern="0" dirty="0" smtClean="0">
                <a:latin typeface="Helvetica Neue"/>
                <a:sym typeface="Helvetica Neue"/>
              </a:rPr>
              <a:t>In the US, Cuba, Mexico and the  Philippines</a:t>
            </a:r>
            <a:endParaRPr sz="1400" kern="0" dirty="0">
              <a:latin typeface="Helvetica Neue"/>
              <a:sym typeface="Helvetica Neue"/>
            </a:endParaRPr>
          </a:p>
        </p:txBody>
      </p:sp>
      <p:pic>
        <p:nvPicPr>
          <p:cNvPr id="1026" name="Picture 2" descr="C:\Users\zuzu\Desktop\Picture1.pn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44" y="223088"/>
            <a:ext cx="2060575" cy="236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122906" y="2662734"/>
            <a:ext cx="402109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Indian Wars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American West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Spanish-American War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Santiago Cuba - San Juan Hill with the Rough Riders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Philippine–American </a:t>
            </a:r>
            <a:r>
              <a:rPr lang="en-US" dirty="0" smtClean="0"/>
              <a:t>War</a:t>
            </a:r>
            <a:endParaRPr lang="en-US" dirty="0"/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Conflicted sentiment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Mexican Expedition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Poncho Villa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pic>
        <p:nvPicPr>
          <p:cNvPr id="4098" name="Picture 2" descr="C:\Users\zuzu\Desktop\733062_search_512x512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730441"/>
            <a:ext cx="1277894" cy="1277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C:\Users\zuzu\Desktop\Buffalo Soldiers\Screenshot 2021-05-30 221553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107" y="4179839"/>
            <a:ext cx="670986" cy="184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5" descr="C:\Users\zuzu\Desktop\Buffalo Soldiers\Screenshot 2021-05-30 221438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789" y="4909070"/>
            <a:ext cx="603011" cy="154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4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Quote Bubble"/>
          <p:cNvSpPr/>
          <p:nvPr/>
        </p:nvSpPr>
        <p:spPr>
          <a:xfrm>
            <a:off x="1255949" y="304994"/>
            <a:ext cx="1944451" cy="800615"/>
          </a:xfrm>
          <a:prstGeom prst="wedgeEllipseCallout">
            <a:avLst>
              <a:gd name="adj1" fmla="val -49709"/>
              <a:gd name="adj2" fmla="val 62714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Hey Mister, “What’s a Buffalo Soldier?”"/>
          <p:cNvSpPr txBox="1"/>
          <p:nvPr/>
        </p:nvSpPr>
        <p:spPr>
          <a:xfrm>
            <a:off x="1371600" y="489710"/>
            <a:ext cx="1752600" cy="46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</a:defRPr>
            </a:lvl1pPr>
          </a:lstStyle>
          <a:p>
            <a:pPr algn="ctr" defTabSz="2438338" hangingPunct="0">
              <a:lnSpc>
                <a:spcPct val="85000"/>
              </a:lnSpc>
            </a:pPr>
            <a:r>
              <a:rPr lang="en-US" sz="1400" kern="0" dirty="0" smtClean="0">
                <a:latin typeface="Helvetica Neue"/>
                <a:sym typeface="Helvetica Neue"/>
              </a:rPr>
              <a:t>What about World Wars I and II?</a:t>
            </a:r>
            <a:endParaRPr sz="1400" kern="0" dirty="0">
              <a:latin typeface="Helvetica Neue"/>
              <a:sym typeface="Helvetica Neue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633879" y="457200"/>
            <a:ext cx="3928721" cy="3713779"/>
            <a:chOff x="2643625" y="2667000"/>
            <a:chExt cx="3928721" cy="3713779"/>
          </a:xfrm>
        </p:grpSpPr>
        <p:grpSp>
          <p:nvGrpSpPr>
            <p:cNvPr id="8" name="Group"/>
            <p:cNvGrpSpPr/>
            <p:nvPr/>
          </p:nvGrpSpPr>
          <p:grpSpPr>
            <a:xfrm>
              <a:off x="2643625" y="2667000"/>
              <a:ext cx="3928721" cy="3713779"/>
              <a:chOff x="0" y="0"/>
              <a:chExt cx="7508105" cy="7097332"/>
            </a:xfrm>
            <a:scene3d>
              <a:camera prst="isometricRightUp"/>
              <a:lightRig rig="threePt" dir="t"/>
            </a:scene3d>
          </p:grpSpPr>
          <p:pic>
            <p:nvPicPr>
              <p:cNvPr id="9" name="images.png" descr="images.pn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7508106" cy="636958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0" name="Rectangle"/>
              <p:cNvSpPr/>
              <p:nvPr/>
            </p:nvSpPr>
            <p:spPr>
              <a:xfrm>
                <a:off x="2893302" y="211362"/>
                <a:ext cx="4563840" cy="6885971"/>
              </a:xfrm>
              <a:prstGeom prst="rect">
                <a:avLst/>
              </a:prstGeom>
              <a:solidFill>
                <a:srgbClr val="F6F6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 hangingPunct="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3200" kern="0" dirty="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p:grpSp>
        <p:pic>
          <p:nvPicPr>
            <p:cNvPr id="11" name="Picture5.png" descr="Picture5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352800" y="4278397"/>
              <a:ext cx="685800" cy="522203"/>
            </a:xfrm>
            <a:prstGeom prst="rect">
              <a:avLst/>
            </a:prstGeom>
            <a:ln w="12700">
              <a:miter lim="400000"/>
            </a:ln>
            <a:scene3d>
              <a:camera prst="isometricRightUp"/>
              <a:lightRig rig="threePt" dir="t"/>
            </a:scene3d>
          </p:spPr>
        </p:pic>
      </p:grpSp>
      <p:sp>
        <p:nvSpPr>
          <p:cNvPr id="12" name="Quote Bubble"/>
          <p:cNvSpPr/>
          <p:nvPr/>
        </p:nvSpPr>
        <p:spPr>
          <a:xfrm>
            <a:off x="3242921" y="838200"/>
            <a:ext cx="2014879" cy="838732"/>
          </a:xfrm>
          <a:prstGeom prst="wedgeEllipseCallout">
            <a:avLst>
              <a:gd name="adj1" fmla="val -49709"/>
              <a:gd name="adj2" fmla="val 62714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Well… it all started back in 1866…."/>
          <p:cNvSpPr txBox="1"/>
          <p:nvPr/>
        </p:nvSpPr>
        <p:spPr>
          <a:xfrm>
            <a:off x="3429000" y="1054438"/>
            <a:ext cx="1710079" cy="46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</a:defRPr>
            </a:lvl1pPr>
          </a:lstStyle>
          <a:p>
            <a:pPr algn="ctr" defTabSz="2438338" hangingPunct="0">
              <a:lnSpc>
                <a:spcPct val="85000"/>
              </a:lnSpc>
            </a:pPr>
            <a:r>
              <a:rPr lang="en-US" sz="1400" kern="0" dirty="0" smtClean="0">
                <a:latin typeface="Helvetica Neue"/>
                <a:sym typeface="Helvetica Neue"/>
              </a:rPr>
              <a:t>Not deployed as regiments to fight</a:t>
            </a:r>
            <a:endParaRPr sz="1400" kern="0" dirty="0">
              <a:latin typeface="Helvetica Neue"/>
              <a:sym typeface="Helvetica Neue"/>
            </a:endParaRPr>
          </a:p>
        </p:txBody>
      </p:sp>
      <p:pic>
        <p:nvPicPr>
          <p:cNvPr id="1026" name="Picture 2" descr="C:\Users\zuzu\Desktop\Picture1.pn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44" y="223088"/>
            <a:ext cx="2060575" cy="236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4247848" y="2819400"/>
            <a:ext cx="42840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Buffalo Soldiers not deployed in WW-I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Cavalry deactivated </a:t>
            </a:r>
            <a:r>
              <a:rPr lang="en-US" dirty="0" smtClean="0"/>
              <a:t>in 1944 leading into WW-II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92</a:t>
            </a:r>
            <a:r>
              <a:rPr lang="en-US" baseline="30000" dirty="0" smtClean="0"/>
              <a:t>nd</a:t>
            </a:r>
            <a:r>
              <a:rPr lang="en-US" dirty="0" smtClean="0"/>
              <a:t> and 93</a:t>
            </a:r>
            <a:r>
              <a:rPr lang="en-US" baseline="30000" dirty="0" smtClean="0"/>
              <a:t>rd</a:t>
            </a:r>
            <a:r>
              <a:rPr lang="en-US" dirty="0" smtClean="0"/>
              <a:t> Infantry Divisions formed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Served in France and Italy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WW-I under French command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WW-II in both Pacific and Europe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92</a:t>
            </a:r>
            <a:r>
              <a:rPr lang="en-US" baseline="30000" dirty="0" smtClean="0"/>
              <a:t>nd</a:t>
            </a:r>
            <a:r>
              <a:rPr lang="en-US" dirty="0" smtClean="0"/>
              <a:t> takes nickname “Buffalo Soldiers”</a:t>
            </a:r>
          </a:p>
        </p:txBody>
      </p:sp>
      <p:pic>
        <p:nvPicPr>
          <p:cNvPr id="15" name="Picture 5" descr="C:\Users\zuzu\Desktop\Buffalo Soldiers\images\Screenshot 2021-05-31 220817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044" y="1676932"/>
            <a:ext cx="2031058" cy="924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Quote Bubble"/>
          <p:cNvSpPr/>
          <p:nvPr/>
        </p:nvSpPr>
        <p:spPr>
          <a:xfrm>
            <a:off x="1255949" y="304800"/>
            <a:ext cx="1944451" cy="800615"/>
          </a:xfrm>
          <a:prstGeom prst="wedgeEllipseCallout">
            <a:avLst>
              <a:gd name="adj1" fmla="val -49709"/>
              <a:gd name="adj2" fmla="val 62714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Hey Mister, “What’s a Buffalo Soldier?”"/>
          <p:cNvSpPr txBox="1"/>
          <p:nvPr/>
        </p:nvSpPr>
        <p:spPr>
          <a:xfrm>
            <a:off x="1371600" y="489437"/>
            <a:ext cx="1752600" cy="46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</a:defRPr>
            </a:lvl1pPr>
          </a:lstStyle>
          <a:p>
            <a:pPr algn="ctr" defTabSz="2438338" hangingPunct="0">
              <a:lnSpc>
                <a:spcPct val="85000"/>
              </a:lnSpc>
            </a:pPr>
            <a:r>
              <a:rPr lang="en-US" sz="1400" kern="0" dirty="0" smtClean="0">
                <a:latin typeface="Helvetica Neue"/>
                <a:sym typeface="Helvetica Neue"/>
              </a:rPr>
              <a:t>How are they remembered today?</a:t>
            </a:r>
            <a:endParaRPr sz="1400" kern="0" dirty="0">
              <a:latin typeface="Helvetica Neue"/>
              <a:sym typeface="Helvetica Neue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633879" y="457200"/>
            <a:ext cx="3928721" cy="3713779"/>
            <a:chOff x="2643625" y="2667000"/>
            <a:chExt cx="3928721" cy="3713779"/>
          </a:xfrm>
        </p:grpSpPr>
        <p:grpSp>
          <p:nvGrpSpPr>
            <p:cNvPr id="8" name="Group"/>
            <p:cNvGrpSpPr/>
            <p:nvPr/>
          </p:nvGrpSpPr>
          <p:grpSpPr>
            <a:xfrm>
              <a:off x="2643625" y="2667000"/>
              <a:ext cx="3928721" cy="3713779"/>
              <a:chOff x="0" y="0"/>
              <a:chExt cx="7508105" cy="7097332"/>
            </a:xfrm>
            <a:scene3d>
              <a:camera prst="isometricRightUp"/>
              <a:lightRig rig="threePt" dir="t"/>
            </a:scene3d>
          </p:grpSpPr>
          <p:pic>
            <p:nvPicPr>
              <p:cNvPr id="9" name="images.png" descr="images.png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0" y="0"/>
                <a:ext cx="7508106" cy="636958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0" name="Rectangle"/>
              <p:cNvSpPr/>
              <p:nvPr/>
            </p:nvSpPr>
            <p:spPr>
              <a:xfrm>
                <a:off x="2893302" y="211362"/>
                <a:ext cx="4563840" cy="6885971"/>
              </a:xfrm>
              <a:prstGeom prst="rect">
                <a:avLst/>
              </a:prstGeom>
              <a:solidFill>
                <a:srgbClr val="F6F6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 hangingPunct="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3200" kern="0" dirty="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p:grpSp>
        <p:pic>
          <p:nvPicPr>
            <p:cNvPr id="11" name="Picture5.png" descr="Picture5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352800" y="4278397"/>
              <a:ext cx="685800" cy="522203"/>
            </a:xfrm>
            <a:prstGeom prst="rect">
              <a:avLst/>
            </a:prstGeom>
            <a:ln w="12700">
              <a:miter lim="400000"/>
            </a:ln>
            <a:scene3d>
              <a:camera prst="isometricRightUp"/>
              <a:lightRig rig="threePt" dir="t"/>
            </a:scene3d>
          </p:spPr>
        </p:pic>
      </p:grpSp>
      <p:sp>
        <p:nvSpPr>
          <p:cNvPr id="12" name="Quote Bubble"/>
          <p:cNvSpPr/>
          <p:nvPr/>
        </p:nvSpPr>
        <p:spPr>
          <a:xfrm>
            <a:off x="3242921" y="838200"/>
            <a:ext cx="2014879" cy="838732"/>
          </a:xfrm>
          <a:prstGeom prst="wedgeEllipseCallout">
            <a:avLst>
              <a:gd name="adj1" fmla="val -49709"/>
              <a:gd name="adj2" fmla="val 62714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Well… it all started back in 1866…."/>
          <p:cNvSpPr txBox="1"/>
          <p:nvPr/>
        </p:nvSpPr>
        <p:spPr>
          <a:xfrm>
            <a:off x="3429000" y="1129843"/>
            <a:ext cx="1710079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</a:defRPr>
            </a:lvl1pPr>
          </a:lstStyle>
          <a:p>
            <a:pPr algn="ctr" defTabSz="2438338" hangingPunct="0"/>
            <a:endParaRPr sz="1400" kern="0" dirty="0">
              <a:latin typeface="Helvetica Neue"/>
              <a:sym typeface="Helvetica Neue"/>
            </a:endParaRPr>
          </a:p>
        </p:txBody>
      </p:sp>
      <p:pic>
        <p:nvPicPr>
          <p:cNvPr id="1026" name="Picture 2" descr="C:\Users\zuzu\Desktop\Picture1.png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44" y="223088"/>
            <a:ext cx="2060575" cy="236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4264537" y="2606749"/>
            <a:ext cx="42840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Education </a:t>
            </a:r>
            <a:r>
              <a:rPr lang="en-US" dirty="0"/>
              <a:t>and Awareness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Monuments, Statues and Dedications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Individual Medals of Honor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Buffalo Soldiers Congressional Gold Medal Act of </a:t>
            </a:r>
            <a:r>
              <a:rPr lang="en-US" dirty="0" smtClean="0"/>
              <a:t>2020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People like those of the Buffalo Soldiers Motorcycle Club who proudly take their nickname and honor their legacy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And now… through </a:t>
            </a:r>
            <a:r>
              <a:rPr lang="en-US" dirty="0"/>
              <a:t>p</a:t>
            </a:r>
            <a:r>
              <a:rPr lang="en-US" dirty="0" smtClean="0"/>
              <a:t>eople like </a:t>
            </a:r>
            <a:r>
              <a:rPr lang="en-US" dirty="0"/>
              <a:t>y</a:t>
            </a:r>
            <a:r>
              <a:rPr lang="en-US" dirty="0" smtClean="0"/>
              <a:t>ou</a:t>
            </a:r>
          </a:p>
        </p:txBody>
      </p:sp>
      <p:sp>
        <p:nvSpPr>
          <p:cNvPr id="16" name="Hey Mister, “What’s a Buffalo Soldier?”"/>
          <p:cNvSpPr txBox="1"/>
          <p:nvPr/>
        </p:nvSpPr>
        <p:spPr>
          <a:xfrm>
            <a:off x="3352800" y="1024427"/>
            <a:ext cx="1828800" cy="651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</a:defRPr>
            </a:lvl1pPr>
          </a:lstStyle>
          <a:p>
            <a:pPr algn="ctr" defTabSz="2438338" hangingPunct="0">
              <a:lnSpc>
                <a:spcPct val="85000"/>
              </a:lnSpc>
            </a:pPr>
            <a:r>
              <a:rPr lang="en-US" sz="1400" kern="0" dirty="0" smtClean="0">
                <a:latin typeface="Helvetica Neue"/>
                <a:sym typeface="Helvetica Neue"/>
              </a:rPr>
              <a:t>Through many efforts to preserve their history</a:t>
            </a:r>
            <a:endParaRPr sz="1400" kern="0" dirty="0">
              <a:latin typeface="Helvetica Neue"/>
              <a:sym typeface="Helvetica Neue"/>
            </a:endParaRPr>
          </a:p>
        </p:txBody>
      </p:sp>
      <p:pic>
        <p:nvPicPr>
          <p:cNvPr id="18" name="Picture 2" descr="C:\Users\zuzu\Desktop\Buffalo Soldiers\images\download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323" y="5410200"/>
            <a:ext cx="978040" cy="1004714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:\Users\zuzu\Desktop\Buffalo Soldiers\images\honor2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480" y="1741034"/>
            <a:ext cx="1840320" cy="67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Buffalo Soldiers History Brief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5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40039</TotalTime>
  <Words>390</Words>
  <Application>Microsoft Office PowerPoint</Application>
  <PresentationFormat>On-screen Show (4:3)</PresentationFormat>
  <Paragraphs>76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The 9th and 10th Cavalry Buffalo Soldiers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zuzu</dc:creator>
  <cp:lastModifiedBy>Tim Hanis</cp:lastModifiedBy>
  <cp:revision>46</cp:revision>
  <dcterms:created xsi:type="dcterms:W3CDTF">2006-08-16T00:00:00Z</dcterms:created>
  <dcterms:modified xsi:type="dcterms:W3CDTF">2021-11-02T23:58:50Z</dcterms:modified>
</cp:coreProperties>
</file>